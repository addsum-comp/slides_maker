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8.png"/><Relationship Id="rId4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2.png"/><Relationship Id="rId4" Type="http://schemas.openxmlformats.org/officeDocument/2006/relationships/image" Target="../media/image4.png"/><Relationship Id="rId5" Type="http://schemas.openxmlformats.org/officeDocument/2006/relationships/image" Target="../media/image13.png"/><Relationship Id="rId6" Type="http://schemas.openxmlformats.org/officeDocument/2006/relationships/image" Target="../media/image9.png"/><Relationship Id="rId7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4.png"/><Relationship Id="rId4" Type="http://schemas.openxmlformats.org/officeDocument/2006/relationships/image" Target="../media/image7.png"/><Relationship Id="rId5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3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Relationship Id="rId6" Type="http://schemas.openxmlformats.org/officeDocument/2006/relationships/image" Target="../media/image17.png"/><Relationship Id="rId7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8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ero.png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5212080" cy="5143500"/>
          </a:xfrm>
          <a:prstGeom prst="rect">
            <a:avLst/>
          </a:prstGeom>
          <a:gradFill>
            <a:gsLst>
              <a:gs pos="0">
                <a:srgbClr val="0A0B0D">
                  <a:alpha val="78000"/>
                </a:srgbClr>
              </a:gs>
              <a:gs pos="100000">
                <a:srgbClr val="0A0B0D">
                  <a:alpha val="0"/>
                </a:srgbClr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94944" y="1298448"/>
            <a:ext cx="4572000" cy="27432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76B900"/>
                </a:solidFill>
                <a:latin typeface="Helvetica Neue"/>
                <a:ea typeface="Hiragino Sans GB"/>
                <a:cs typeface="Hiragino Sans GB"/>
              </a:rPr>
              <a:t>公司概览      2026</a:t>
            </a:r>
          </a:p>
        </p:txBody>
      </p:sp>
      <p:pic>
        <p:nvPicPr>
          <p:cNvPr id="5" name="Picture 4" descr="nvidia_logo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656" y="1756016"/>
            <a:ext cx="2697480" cy="493039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04088" y="2542032"/>
            <a:ext cx="777240" cy="25603"/>
          </a:xfrm>
          <a:prstGeom prst="rect">
            <a:avLst/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4088" y="2724912"/>
            <a:ext cx="4114800" cy="91440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1550" b="0" i="0">
                <a:solidFill>
                  <a:srgbClr val="C8CDD4"/>
                </a:solidFill>
                <a:latin typeface="Helvetica Neue"/>
                <a:ea typeface="Hiragino Sans GB"/>
                <a:cs typeface="Hiragino Sans GB"/>
              </a:rPr>
              <a:t>驱动 AI、图形与 3D 的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1550" b="0" i="0">
                <a:solidFill>
                  <a:srgbClr val="C8CDD4"/>
                </a:solidFill>
                <a:latin typeface="Helvetica Neue"/>
                <a:ea typeface="Hiragino Sans GB"/>
                <a:cs typeface="Hiragino Sans GB"/>
              </a:rPr>
              <a:t>加速计算平台。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ero.png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5486400" cy="5143500"/>
          </a:xfrm>
          <a:prstGeom prst="rect">
            <a:avLst/>
          </a:prstGeom>
          <a:gradFill>
            <a:gsLst>
              <a:gs pos="0">
                <a:srgbClr val="0A0B0D">
                  <a:alpha val="82000"/>
                </a:srgbClr>
              </a:gs>
              <a:gs pos="100000">
                <a:srgbClr val="0A0B0D">
                  <a:alpha val="0"/>
                </a:srgbClr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1051560"/>
            <a:ext cx="4572000" cy="27432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76B900"/>
                </a:solidFill>
                <a:latin typeface="Helvetica Neue"/>
                <a:ea typeface="Hiragino Sans GB"/>
                <a:cs typeface="Hiragino Sans GB"/>
              </a:rPr>
              <a:t>我们是谁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216" y="1417320"/>
            <a:ext cx="4754880" cy="182880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2600" b="1" i="0">
                <a:solidFill>
                  <a:srgbClr val="FFFFFF"/>
                </a:solidFill>
                <a:latin typeface="Helvetica Neue"/>
                <a:ea typeface="Hiragino Sans GB"/>
                <a:cs typeface="Hiragino Sans GB"/>
              </a:rPr>
              <a:t>NVIDIA 打造芯片、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2600" b="1" i="0">
                <a:solidFill>
                  <a:srgbClr val="FFFFFF"/>
                </a:solidFill>
                <a:latin typeface="Helvetica Neue"/>
                <a:ea typeface="Hiragino Sans GB"/>
                <a:cs typeface="Hiragino Sans GB"/>
              </a:rPr>
              <a:t>系统、网络与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2600" b="1" i="0">
                <a:solidFill>
                  <a:srgbClr val="FFFFFF"/>
                </a:solidFill>
                <a:latin typeface="Helvetica Neue"/>
                <a:ea typeface="Hiragino Sans GB"/>
                <a:cs typeface="Hiragino Sans GB"/>
              </a:rPr>
              <a:t>软件，全世界的 AI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2600" b="1" i="0">
                <a:solidFill>
                  <a:srgbClr val="FFFFFF"/>
                </a:solidFill>
                <a:latin typeface="Helvetica Neue"/>
                <a:ea typeface="Hiragino Sans GB"/>
                <a:cs typeface="Hiragino Sans GB"/>
              </a:rPr>
              <a:t>都跑在上面。</a:t>
            </a:r>
            <a:r>
              <a:rPr sz="2600" b="1" i="0">
                <a:solidFill>
                  <a:srgbClr val="76B900"/>
                </a:solidFill>
                <a:latin typeface="Helvetica Neue"/>
                <a:ea typeface="Hiragino Sans GB"/>
                <a:cs typeface="Hiragino Sans GB"/>
              </a:rPr>
              <a:t/>
            </a:r>
            <a:r>
              <a:rPr sz="2600" b="1" i="0">
                <a:solidFill>
                  <a:srgbClr val="FFFFFF"/>
                </a:solidFill>
                <a:latin typeface="Helvetica Neue"/>
                <a:ea typeface="Hiragino Sans GB"/>
                <a:cs typeface="Hiragino Sans GB"/>
              </a:rPr>
              <a:t/>
            </a:r>
          </a:p>
        </p:txBody>
      </p:sp>
      <p:sp>
        <p:nvSpPr>
          <p:cNvPr id="6" name="Rectangle 5"/>
          <p:cNvSpPr/>
          <p:nvPr/>
        </p:nvSpPr>
        <p:spPr>
          <a:xfrm>
            <a:off x="612648" y="3611880"/>
            <a:ext cx="777240" cy="25603"/>
          </a:xfrm>
          <a:prstGeom prst="rect">
            <a:avLst/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2648" y="3794760"/>
            <a:ext cx="4572000" cy="54864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C8CDD4"/>
                </a:solidFill>
                <a:latin typeface="Helvetica Neue"/>
                <a:ea typeface="Hiragino Sans GB"/>
                <a:cs typeface="Hiragino Sans GB"/>
              </a:rPr>
              <a:t>创立于 1993 年 · 黄仁勋掌舵 · AI 时代的全栈平台。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content.png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>
            <a:gsLst>
              <a:gs pos="0">
                <a:srgbClr val="0A0B0D">
                  <a:alpha val="34000"/>
                </a:srgbClr>
              </a:gs>
              <a:gs pos="100000">
                <a:srgbClr val="0A0B0D">
                  <a:alpha val="34000"/>
                </a:srgbClr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20624"/>
            <a:ext cx="8229600" cy="27432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76B900"/>
                </a:solidFill>
                <a:latin typeface="Helvetica Neue"/>
                <a:ea typeface="Hiragino Sans GB"/>
                <a:cs typeface="Hiragino Sans GB"/>
              </a:rPr>
              <a:t>我们的故事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8412480" cy="64008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Helvetica Neue"/>
                <a:ea typeface="Hiragino Sans GB"/>
                <a:cs typeface="Hiragino Sans GB"/>
              </a:rPr>
              <a:t>从一颗图形芯片，到 AI 的引擎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280160"/>
            <a:ext cx="1005840" cy="45720"/>
          </a:xfrm>
          <a:prstGeom prst="rect">
            <a:avLst/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823667"/>
            <a:ext cx="7498079" cy="21945"/>
          </a:xfrm>
          <a:prstGeom prst="rect">
            <a:avLst/>
          </a:prstGeom>
          <a:solidFill>
            <a:srgbClr val="323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45236" y="2756916"/>
            <a:ext cx="155448" cy="155448"/>
          </a:xfrm>
          <a:prstGeom prst="roundRect">
            <a:avLst>
              <a:gd name="adj" fmla="val 8000"/>
            </a:avLst>
          </a:prstGeom>
          <a:solidFill>
            <a:srgbClr val="121418"/>
          </a:solidFill>
          <a:ln w="17780">
            <a:solidFill>
              <a:srgbClr val="3238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" y="2121408"/>
            <a:ext cx="1554480" cy="36576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Helvetica Neue"/>
                <a:ea typeface="Hiragino Sans GB"/>
                <a:cs typeface="Hiragino Sans GB"/>
              </a:rPr>
              <a:t>1993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" y="3035808"/>
            <a:ext cx="1554480" cy="54864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8CDD4"/>
                </a:solidFill>
                <a:latin typeface="Helvetica Neue"/>
                <a:ea typeface="Hiragino Sans GB"/>
                <a:cs typeface="Hiragino Sans GB"/>
              </a:rPr>
              <a:t>公司创立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619756" y="2756916"/>
            <a:ext cx="155448" cy="155448"/>
          </a:xfrm>
          <a:prstGeom prst="roundRect">
            <a:avLst>
              <a:gd name="adj" fmla="val 8000"/>
            </a:avLst>
          </a:prstGeom>
          <a:solidFill>
            <a:srgbClr val="121418"/>
          </a:solidFill>
          <a:ln w="17780">
            <a:solidFill>
              <a:srgbClr val="3238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920240" y="2121408"/>
            <a:ext cx="1554480" cy="36576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Helvetica Neue"/>
                <a:ea typeface="Hiragino Sans GB"/>
                <a:cs typeface="Hiragino Sans GB"/>
              </a:rPr>
              <a:t>1999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20240" y="3035808"/>
            <a:ext cx="1554480" cy="54864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8CDD4"/>
                </a:solidFill>
                <a:latin typeface="Helvetica Neue"/>
                <a:ea typeface="Hiragino Sans GB"/>
                <a:cs typeface="Hiragino Sans GB"/>
              </a:rPr>
              <a:t>发明 GPU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494276" y="2756916"/>
            <a:ext cx="155448" cy="155448"/>
          </a:xfrm>
          <a:prstGeom prst="roundRect">
            <a:avLst>
              <a:gd name="adj" fmla="val 8000"/>
            </a:avLst>
          </a:prstGeom>
          <a:solidFill>
            <a:srgbClr val="121418"/>
          </a:solidFill>
          <a:ln w="17780">
            <a:solidFill>
              <a:srgbClr val="3238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794760" y="2121408"/>
            <a:ext cx="1554480" cy="36576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Helvetica Neue"/>
                <a:ea typeface="Hiragino Sans GB"/>
                <a:cs typeface="Hiragino Sans GB"/>
              </a:rPr>
              <a:t>2006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94760" y="3035808"/>
            <a:ext cx="1554480" cy="54864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8CDD4"/>
                </a:solidFill>
                <a:latin typeface="Helvetica Neue"/>
                <a:ea typeface="Hiragino Sans GB"/>
                <a:cs typeface="Hiragino Sans GB"/>
              </a:rPr>
              <a:t>CUDA 软件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68796" y="2756916"/>
            <a:ext cx="155448" cy="155448"/>
          </a:xfrm>
          <a:prstGeom prst="roundRect">
            <a:avLst>
              <a:gd name="adj" fmla="val 8000"/>
            </a:avLst>
          </a:prstGeom>
          <a:solidFill>
            <a:srgbClr val="121418"/>
          </a:solidFill>
          <a:ln w="17780">
            <a:solidFill>
              <a:srgbClr val="3238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69280" y="2121408"/>
            <a:ext cx="1554480" cy="36576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Helvetica Neue"/>
                <a:ea typeface="Hiragino Sans GB"/>
                <a:cs typeface="Hiragino Sans GB"/>
              </a:rPr>
              <a:t>2012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0" y="3035808"/>
            <a:ext cx="1554480" cy="54864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8CDD4"/>
                </a:solidFill>
                <a:latin typeface="Helvetica Neue"/>
                <a:ea typeface="Hiragino Sans GB"/>
                <a:cs typeface="Hiragino Sans GB"/>
              </a:rPr>
              <a:t>深度学习时代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43315" y="2756916"/>
            <a:ext cx="155448" cy="155448"/>
          </a:xfrm>
          <a:prstGeom prst="roundRect">
            <a:avLst>
              <a:gd name="adj" fmla="val 8000"/>
            </a:avLst>
          </a:prstGeom>
          <a:solidFill>
            <a:srgbClr val="76B900"/>
          </a:solidFill>
          <a:ln w="17780">
            <a:solidFill>
              <a:srgbClr val="76B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543800" y="2121408"/>
            <a:ext cx="1554480" cy="36576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76B900"/>
                </a:solidFill>
                <a:latin typeface="Helvetica Neue"/>
                <a:ea typeface="Hiragino Sans GB"/>
                <a:cs typeface="Hiragino Sans GB"/>
              </a:rPr>
              <a:t>2024–26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43800" y="3035808"/>
            <a:ext cx="1554480" cy="54864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8CDD4"/>
                </a:solidFill>
                <a:latin typeface="Helvetica Neue"/>
                <a:ea typeface="Hiragino Sans GB"/>
                <a:cs typeface="Hiragino Sans GB"/>
              </a:rPr>
              <a:t>AI 工厂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3977639"/>
            <a:ext cx="8046720" cy="45720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AA3AE"/>
                </a:solidFill>
                <a:latin typeface="Helvetica Neue"/>
                <a:ea typeface="Hiragino Sans GB"/>
                <a:cs typeface="Hiragino Sans GB"/>
              </a:rPr>
              <a:t>三项发明，GPU、CUDA 和机架级 AI 系统，把 PC 图形变成了现代 AI 的引擎。</a:t>
            </a:r>
          </a:p>
        </p:txBody>
      </p:sp>
      <p:pic>
        <p:nvPicPr>
          <p:cNvPr id="24" name="Picture 23" descr="nvidia_logo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9112" y="4846320"/>
            <a:ext cx="785439" cy="14356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955279" y="4846320"/>
            <a:ext cx="731520" cy="18288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AA3AE"/>
                </a:solidFill>
                <a:latin typeface="Helvetica Neue"/>
                <a:ea typeface="Hiragino Sans GB"/>
                <a:cs typeface="Hiragino Sans GB"/>
              </a:rPr>
              <a:t>03 / 16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content.png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>
            <a:gsLst>
              <a:gs pos="0">
                <a:srgbClr val="0A0B0D">
                  <a:alpha val="34000"/>
                </a:srgbClr>
              </a:gs>
              <a:gs pos="100000">
                <a:srgbClr val="0A0B0D">
                  <a:alpha val="34000"/>
                </a:srgbClr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20624"/>
            <a:ext cx="8229600" cy="27432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76B900"/>
                </a:solidFill>
                <a:latin typeface="Helvetica Neue"/>
                <a:ea typeface="Hiragino Sans GB"/>
                <a:cs typeface="Hiragino Sans GB"/>
              </a:rPr>
              <a:t>我们造什么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8412480" cy="64008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Helvetica Neue"/>
                <a:ea typeface="Hiragino Sans GB"/>
                <a:cs typeface="Hiragino Sans GB"/>
              </a:rPr>
              <a:t>一个平台，多种引擎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280160"/>
            <a:ext cx="1005840" cy="45720"/>
          </a:xfrm>
          <a:prstGeom prst="rect">
            <a:avLst/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5760" y="1691640"/>
            <a:ext cx="1828799" cy="2331720"/>
          </a:xfrm>
          <a:prstGeom prst="roundRect">
            <a:avLst>
              <a:gd name="adj" fmla="val 8000"/>
            </a:avLst>
          </a:prstGeom>
          <a:solidFill>
            <a:srgbClr val="121418"/>
          </a:solidFill>
          <a:ln w="13970">
            <a:solidFill>
              <a:srgbClr val="3238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8" name="Round Same Side Corner Rectangle 7"/>
          <p:cNvSpPr/>
          <p:nvPr/>
        </p:nvSpPr>
        <p:spPr>
          <a:xfrm>
            <a:off x="365760" y="1691640"/>
            <a:ext cx="1828799" cy="54864"/>
          </a:xfrm>
          <a:prstGeom prst="round2SameRect">
            <a:avLst>
              <a:gd name="adj1" fmla="val 8000"/>
              <a:gd name="adj2" fmla="val 0"/>
            </a:avLst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pic>
        <p:nvPicPr>
          <p:cNvPr id="9" name="Picture 8" descr="s_a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5216" y="1984248"/>
            <a:ext cx="402336" cy="40233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85216" y="2587752"/>
            <a:ext cx="1389887" cy="54864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Helvetica Neue"/>
                <a:ea typeface="Hiragino Sans GB"/>
                <a:cs typeface="Hiragino Sans GB"/>
              </a:rPr>
              <a:t>AI 与数据中心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3209544"/>
            <a:ext cx="1389887" cy="77724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AA3AE"/>
                </a:solidFill>
                <a:latin typeface="Helvetica Neue"/>
                <a:ea typeface="Hiragino Sans GB"/>
                <a:cs typeface="Hiragino Sans GB"/>
              </a:rPr>
              <a:t>运行全世界 AI 的全栈 GPU 与系统。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560320" y="1691640"/>
            <a:ext cx="1828799" cy="2331720"/>
          </a:xfrm>
          <a:prstGeom prst="roundRect">
            <a:avLst>
              <a:gd name="adj" fmla="val 8000"/>
            </a:avLst>
          </a:prstGeom>
          <a:solidFill>
            <a:srgbClr val="121418"/>
          </a:solidFill>
          <a:ln w="13970">
            <a:solidFill>
              <a:srgbClr val="3238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13" name="Round Same Side Corner Rectangle 12"/>
          <p:cNvSpPr/>
          <p:nvPr/>
        </p:nvSpPr>
        <p:spPr>
          <a:xfrm>
            <a:off x="2560320" y="1691640"/>
            <a:ext cx="1828799" cy="54864"/>
          </a:xfrm>
          <a:prstGeom prst="round2SameRect">
            <a:avLst>
              <a:gd name="adj1" fmla="val 8000"/>
              <a:gd name="adj2" fmla="val 0"/>
            </a:avLst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pic>
        <p:nvPicPr>
          <p:cNvPr id="14" name="Picture 13" descr="s_gam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79776" y="1984248"/>
            <a:ext cx="402336" cy="40233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2779776" y="2587752"/>
            <a:ext cx="1572767" cy="54864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  <a:latin typeface="Helvetica Neue"/>
                <a:ea typeface="Hiragino Sans GB"/>
                <a:cs typeface="Hiragino Sans GB"/>
              </a:rPr>
              <a:t>GeForce RTX 游戏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79776" y="3209544"/>
            <a:ext cx="1389887" cy="77724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AA3AE"/>
                </a:solidFill>
                <a:latin typeface="Helvetica Neue"/>
                <a:ea typeface="Hiragino Sans GB"/>
                <a:cs typeface="Hiragino Sans GB"/>
              </a:rPr>
              <a:t>为游戏带来实时光线追踪与 AI 渲染。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754880" y="1691640"/>
            <a:ext cx="1828799" cy="2331720"/>
          </a:xfrm>
          <a:prstGeom prst="roundRect">
            <a:avLst>
              <a:gd name="adj" fmla="val 8000"/>
            </a:avLst>
          </a:prstGeom>
          <a:solidFill>
            <a:srgbClr val="121418"/>
          </a:solidFill>
          <a:ln w="13970">
            <a:solidFill>
              <a:srgbClr val="3238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18" name="Round Same Side Corner Rectangle 17"/>
          <p:cNvSpPr/>
          <p:nvPr/>
        </p:nvSpPr>
        <p:spPr>
          <a:xfrm>
            <a:off x="4754880" y="1691640"/>
            <a:ext cx="1828799" cy="54864"/>
          </a:xfrm>
          <a:prstGeom prst="round2SameRect">
            <a:avLst>
              <a:gd name="adj1" fmla="val 8000"/>
              <a:gd name="adj2" fmla="val 0"/>
            </a:avLst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pic>
        <p:nvPicPr>
          <p:cNvPr id="19" name="Picture 18" descr="s_omni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74336" y="1984248"/>
            <a:ext cx="402336" cy="402336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4974336" y="2587752"/>
            <a:ext cx="1389887" cy="54864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Helvetica Neue"/>
                <a:ea typeface="Hiragino Sans GB"/>
                <a:cs typeface="Hiragino Sans GB"/>
              </a:rPr>
              <a:t>Omniverse 与专业可视化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74336" y="3209544"/>
            <a:ext cx="1389887" cy="77724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AA3AE"/>
                </a:solidFill>
                <a:latin typeface="Helvetica Neue"/>
                <a:ea typeface="Hiragino Sans GB"/>
                <a:cs typeface="Hiragino Sans GB"/>
              </a:rPr>
              <a:t>物理精确的 3D 仿真与数字孪生。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949440" y="1691640"/>
            <a:ext cx="1828799" cy="2331720"/>
          </a:xfrm>
          <a:prstGeom prst="roundRect">
            <a:avLst>
              <a:gd name="adj" fmla="val 8000"/>
            </a:avLst>
          </a:prstGeom>
          <a:solidFill>
            <a:srgbClr val="121418"/>
          </a:solidFill>
          <a:ln w="13970">
            <a:solidFill>
              <a:srgbClr val="3238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23" name="Round Same Side Corner Rectangle 22"/>
          <p:cNvSpPr/>
          <p:nvPr/>
        </p:nvSpPr>
        <p:spPr>
          <a:xfrm>
            <a:off x="6949440" y="1691640"/>
            <a:ext cx="1828799" cy="54864"/>
          </a:xfrm>
          <a:prstGeom prst="round2SameRect">
            <a:avLst>
              <a:gd name="adj1" fmla="val 8000"/>
              <a:gd name="adj2" fmla="val 0"/>
            </a:avLst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pic>
        <p:nvPicPr>
          <p:cNvPr id="24" name="Picture 23" descr="s_robo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68896" y="1984248"/>
            <a:ext cx="402336" cy="402336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168896" y="2587752"/>
            <a:ext cx="1389887" cy="54864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Helvetica Neue"/>
                <a:ea typeface="Hiragino Sans GB"/>
                <a:cs typeface="Hiragino Sans GB"/>
              </a:rPr>
              <a:t>机器人与汽车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8896" y="3209544"/>
            <a:ext cx="1389887" cy="77724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AA3AE"/>
                </a:solidFill>
                <a:latin typeface="Helvetica Neue"/>
                <a:ea typeface="Hiragino Sans GB"/>
                <a:cs typeface="Hiragino Sans GB"/>
              </a:rPr>
              <a:t>为车辆、机器人与边缘设备提供车载 AI。</a:t>
            </a:r>
          </a:p>
        </p:txBody>
      </p:sp>
      <p:pic>
        <p:nvPicPr>
          <p:cNvPr id="27" name="Picture 26" descr="nvidia_logo_dark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9112" y="4846320"/>
            <a:ext cx="785439" cy="14356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7955279" y="4846320"/>
            <a:ext cx="731520" cy="18288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AA3AE"/>
                </a:solidFill>
                <a:latin typeface="Helvetica Neue"/>
                <a:ea typeface="Hiragino Sans GB"/>
                <a:cs typeface="Hiragino Sans GB"/>
              </a:rPr>
              <a:t>04 / 16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content.png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>
            <a:gsLst>
              <a:gs pos="0">
                <a:srgbClr val="0A0B0D">
                  <a:alpha val="34000"/>
                </a:srgbClr>
              </a:gs>
              <a:gs pos="100000">
                <a:srgbClr val="0A0B0D">
                  <a:alpha val="34000"/>
                </a:srgbClr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20624"/>
            <a:ext cx="8229600" cy="27432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76B900"/>
                </a:solidFill>
                <a:latin typeface="Helvetica Neue"/>
                <a:ea typeface="Hiragino Sans GB"/>
                <a:cs typeface="Hiragino Sans GB"/>
              </a:rPr>
              <a:t>用数字说话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8412480" cy="64008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Helvetica Neue"/>
                <a:ea typeface="Hiragino Sans GB"/>
                <a:cs typeface="Hiragino Sans GB"/>
              </a:rPr>
              <a:t>规模与地位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280160"/>
            <a:ext cx="1005840" cy="45720"/>
          </a:xfrm>
          <a:prstGeom prst="rect">
            <a:avLst/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5760" y="1783080"/>
            <a:ext cx="1828799" cy="1828800"/>
          </a:xfrm>
          <a:prstGeom prst="roundRect">
            <a:avLst>
              <a:gd name="adj" fmla="val 8000"/>
            </a:avLst>
          </a:prstGeom>
          <a:solidFill>
            <a:srgbClr val="121418"/>
          </a:solidFill>
          <a:ln w="13970">
            <a:solidFill>
              <a:srgbClr val="3238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65760" y="1783080"/>
            <a:ext cx="54864" cy="1828800"/>
          </a:xfrm>
          <a:prstGeom prst="roundRect">
            <a:avLst>
              <a:gd name="adj" fmla="val 8000"/>
            </a:avLst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2112264"/>
            <a:ext cx="1444751" cy="45720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76B900"/>
                </a:solidFill>
                <a:latin typeface="Helvetica Neue"/>
                <a:ea typeface="Hiragino Sans GB"/>
                <a:cs typeface="Hiragino Sans GB"/>
              </a:rPr>
              <a:t>$215.9B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" y="2752344"/>
            <a:ext cx="1417319" cy="32004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Helvetica Neue"/>
                <a:ea typeface="Hiragino Sans GB"/>
                <a:cs typeface="Hiragino Sans GB"/>
              </a:rPr>
              <a:t>2026 财年营收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648" y="3108960"/>
            <a:ext cx="1417319" cy="32004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AA3AE"/>
                </a:solidFill>
                <a:latin typeface="Helvetica Neue"/>
                <a:ea typeface="Hiragino Sans GB"/>
                <a:cs typeface="Hiragino Sans GB"/>
              </a:rPr>
              <a:t>同比 +65%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560320" y="1783080"/>
            <a:ext cx="1828799" cy="1828800"/>
          </a:xfrm>
          <a:prstGeom prst="roundRect">
            <a:avLst>
              <a:gd name="adj" fmla="val 8000"/>
            </a:avLst>
          </a:prstGeom>
          <a:solidFill>
            <a:srgbClr val="121418"/>
          </a:solidFill>
          <a:ln w="13970">
            <a:solidFill>
              <a:srgbClr val="3238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560320" y="1783080"/>
            <a:ext cx="54864" cy="1828800"/>
          </a:xfrm>
          <a:prstGeom prst="roundRect">
            <a:avLst>
              <a:gd name="adj" fmla="val 8000"/>
            </a:avLst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98063" y="1993392"/>
            <a:ext cx="1444751" cy="676656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r>
              <a:rPr sz="2400">
                <a:solidFill>
                  <a:srgbClr val="76B900"/>
                </a:solidFill>
                <a:ea typeface="Hiragino Sans GB"/>
              </a:rPr>
              <a:t>约</a:t>
            </a:r>
          </a:p>
          <a:p>
            <a:r>
              <a:rPr sz="2400">
                <a:solidFill>
                  <a:srgbClr val="76B900"/>
                </a:solidFill>
              </a:rPr>
              <a:t>$4.7T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07208" y="2752344"/>
            <a:ext cx="1417319" cy="32004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Helvetica Neue"/>
                <a:ea typeface="Hiragino Sans GB"/>
                <a:cs typeface="Hiragino Sans GB"/>
              </a:rPr>
              <a:t>市值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07208" y="3108960"/>
            <a:ext cx="1417319" cy="32004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AA3AE"/>
                </a:solidFill>
                <a:latin typeface="Helvetica Neue"/>
                <a:ea typeface="Hiragino Sans GB"/>
                <a:cs typeface="Hiragino Sans GB"/>
              </a:rPr>
              <a:t>全球第一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754880" y="1783080"/>
            <a:ext cx="1828799" cy="1828800"/>
          </a:xfrm>
          <a:prstGeom prst="roundRect">
            <a:avLst>
              <a:gd name="adj" fmla="val 8000"/>
            </a:avLst>
          </a:prstGeom>
          <a:solidFill>
            <a:srgbClr val="121418"/>
          </a:solidFill>
          <a:ln w="13970">
            <a:solidFill>
              <a:srgbClr val="3238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754880" y="1783080"/>
            <a:ext cx="54864" cy="1828800"/>
          </a:xfrm>
          <a:prstGeom prst="roundRect">
            <a:avLst>
              <a:gd name="adj" fmla="val 8000"/>
            </a:avLst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92624" y="2112264"/>
            <a:ext cx="1444751" cy="45720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76B900"/>
                </a:solidFill>
                <a:latin typeface="Helvetica Neue"/>
                <a:ea typeface="Hiragino Sans GB"/>
                <a:cs typeface="Hiragino Sans GB"/>
              </a:rPr>
              <a:t>74.9%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01768" y="2752344"/>
            <a:ext cx="1417319" cy="32004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Helvetica Neue"/>
                <a:ea typeface="Hiragino Sans GB"/>
                <a:cs typeface="Hiragino Sans GB"/>
              </a:rPr>
              <a:t>毛利率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01768" y="3108960"/>
            <a:ext cx="1417319" cy="32004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AA3AE"/>
                </a:solidFill>
                <a:latin typeface="Helvetica Neue"/>
                <a:ea typeface="Hiragino Sans GB"/>
                <a:cs typeface="Hiragino Sans GB"/>
              </a:rPr>
              <a:t>2027 财年一季度，GAAP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949440" y="1783080"/>
            <a:ext cx="1828799" cy="1828800"/>
          </a:xfrm>
          <a:prstGeom prst="roundRect">
            <a:avLst>
              <a:gd name="adj" fmla="val 8000"/>
            </a:avLst>
          </a:prstGeom>
          <a:solidFill>
            <a:srgbClr val="121418"/>
          </a:solidFill>
          <a:ln w="13970">
            <a:solidFill>
              <a:srgbClr val="3238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949440" y="1783080"/>
            <a:ext cx="54864" cy="1828800"/>
          </a:xfrm>
          <a:prstGeom prst="roundRect">
            <a:avLst>
              <a:gd name="adj" fmla="val 8000"/>
            </a:avLst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87183" y="1993392"/>
            <a:ext cx="1444751" cy="676656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r>
              <a:rPr sz="2400">
                <a:solidFill>
                  <a:srgbClr val="76B900"/>
                </a:solidFill>
                <a:ea typeface="Hiragino Sans GB"/>
              </a:rPr>
              <a:t>约</a:t>
            </a:r>
          </a:p>
          <a:p>
            <a:r>
              <a:rPr sz="2400">
                <a:solidFill>
                  <a:srgbClr val="76B900"/>
                </a:solidFill>
                <a:ea typeface="Hiragino Sans GB"/>
              </a:rPr>
              <a:t>600 万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96327" y="2752344"/>
            <a:ext cx="1417319" cy="32004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Helvetica Neue"/>
                <a:ea typeface="Hiragino Sans GB"/>
                <a:cs typeface="Hiragino Sans GB"/>
              </a:rPr>
              <a:t>CUDA 开发者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96327" y="3108960"/>
            <a:ext cx="1417319" cy="32004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AA3AE"/>
                </a:solidFill>
                <a:latin typeface="Helvetica Neue"/>
                <a:ea typeface="Hiragino Sans GB"/>
                <a:cs typeface="Hiragino Sans GB"/>
              </a:rPr>
              <a:t>200+ 个国家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4608576"/>
            <a:ext cx="7818120" cy="18288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30" b="0" i="0">
                <a:solidFill>
                  <a:srgbClr val="9AA3AE"/>
                </a:solidFill>
                <a:latin typeface="Helvetica Neue"/>
                <a:ea typeface="Hiragino Sans GB"/>
                <a:cs typeface="Hiragino Sans GB"/>
              </a:rPr>
              <a:t>营收为 2026 财年（截至 2026 年 1 月 25 日）；毛利率为 2027 财年一季度（2026 年 4 月 26 日）；开发者数据截至 GTC 2025；市值约为 2026 年 6 月（近似值，盘中波动）。</a:t>
            </a:r>
          </a:p>
        </p:txBody>
      </p:sp>
      <p:pic>
        <p:nvPicPr>
          <p:cNvPr id="28" name="Picture 27" descr="nvidia_logo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9112" y="4846320"/>
            <a:ext cx="785439" cy="14356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7955279" y="4846320"/>
            <a:ext cx="731520" cy="18288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AA3AE"/>
                </a:solidFill>
                <a:latin typeface="Helvetica Neue"/>
                <a:ea typeface="Hiragino Sans GB"/>
                <a:cs typeface="Hiragino Sans GB"/>
              </a:rPr>
              <a:t>05 / 16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content.png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>
            <a:gsLst>
              <a:gs pos="0">
                <a:srgbClr val="0A0B0D">
                  <a:alpha val="34000"/>
                </a:srgbClr>
              </a:gs>
              <a:gs pos="100000">
                <a:srgbClr val="0A0B0D">
                  <a:alpha val="34000"/>
                </a:srgbClr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20624"/>
            <a:ext cx="8229600" cy="27432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76B900"/>
                </a:solidFill>
                <a:latin typeface="Helvetica Neue"/>
                <a:ea typeface="Hiragino Sans GB"/>
                <a:cs typeface="Hiragino Sans GB"/>
              </a:rPr>
              <a:t>数据中心 · 核心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8412480" cy="64008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Helvetica Neue"/>
                <a:ea typeface="Hiragino Sans GB"/>
                <a:cs typeface="Hiragino Sans GB"/>
              </a:rPr>
              <a:t>NVIDIA 造的是 AI 工厂，不只是芯片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280160"/>
            <a:ext cx="1005840" cy="45720"/>
          </a:xfrm>
          <a:prstGeom prst="rect">
            <a:avLst/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1783080"/>
            <a:ext cx="3383280" cy="402336"/>
          </a:xfrm>
          <a:prstGeom prst="roundRect">
            <a:avLst>
              <a:gd name="adj" fmla="val 8000"/>
            </a:avLst>
          </a:prstGeom>
          <a:solidFill>
            <a:srgbClr val="121418"/>
          </a:solidFill>
          <a:ln w="12700">
            <a:solidFill>
              <a:srgbClr val="3238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0080" y="1783080"/>
            <a:ext cx="45720" cy="402336"/>
          </a:xfrm>
          <a:prstGeom prst="roundRect">
            <a:avLst>
              <a:gd name="adj" fmla="val 8000"/>
            </a:avLst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3108960" cy="402336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C8CDD4"/>
                </a:solidFill>
                <a:latin typeface="Helvetica Neue"/>
                <a:ea typeface="Hiragino Sans GB"/>
                <a:cs typeface="Hiragino Sans GB"/>
              </a:rPr>
              <a:t>Blackwell GPU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258568"/>
            <a:ext cx="3383280" cy="402336"/>
          </a:xfrm>
          <a:prstGeom prst="roundRect">
            <a:avLst>
              <a:gd name="adj" fmla="val 8000"/>
            </a:avLst>
          </a:prstGeom>
          <a:solidFill>
            <a:srgbClr val="121418"/>
          </a:solidFill>
          <a:ln w="12700">
            <a:solidFill>
              <a:srgbClr val="3238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40080" y="2258568"/>
            <a:ext cx="45720" cy="402336"/>
          </a:xfrm>
          <a:prstGeom prst="roundRect">
            <a:avLst>
              <a:gd name="adj" fmla="val 8000"/>
            </a:avLst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258568"/>
            <a:ext cx="3108960" cy="402336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C8CDD4"/>
                </a:solidFill>
                <a:latin typeface="Helvetica Neue"/>
                <a:ea typeface="Hiragino Sans GB"/>
                <a:cs typeface="Hiragino Sans GB"/>
              </a:rPr>
              <a:t>Grace / Vera CPU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2734056"/>
            <a:ext cx="3383280" cy="402336"/>
          </a:xfrm>
          <a:prstGeom prst="roundRect">
            <a:avLst>
              <a:gd name="adj" fmla="val 8000"/>
            </a:avLst>
          </a:prstGeom>
          <a:solidFill>
            <a:srgbClr val="121418"/>
          </a:solidFill>
          <a:ln w="12700">
            <a:solidFill>
              <a:srgbClr val="3238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40080" y="2734056"/>
            <a:ext cx="45720" cy="402336"/>
          </a:xfrm>
          <a:prstGeom prst="roundRect">
            <a:avLst>
              <a:gd name="adj" fmla="val 8000"/>
            </a:avLst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2734056"/>
            <a:ext cx="3108960" cy="402336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C8CDD4"/>
                </a:solidFill>
                <a:latin typeface="Helvetica Neue"/>
                <a:ea typeface="Hiragino Sans GB"/>
                <a:cs typeface="Hiragino Sans GB"/>
              </a:rPr>
              <a:t>NVLink 与 NVSwitch 互联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209544"/>
            <a:ext cx="3383280" cy="402336"/>
          </a:xfrm>
          <a:prstGeom prst="roundRect">
            <a:avLst>
              <a:gd name="adj" fmla="val 8000"/>
            </a:avLst>
          </a:prstGeom>
          <a:solidFill>
            <a:srgbClr val="121418"/>
          </a:solidFill>
          <a:ln w="12700">
            <a:solidFill>
              <a:srgbClr val="3238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40080" y="3209544"/>
            <a:ext cx="45720" cy="402336"/>
          </a:xfrm>
          <a:prstGeom prst="roundRect">
            <a:avLst>
              <a:gd name="adj" fmla="val 8000"/>
            </a:avLst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3209544"/>
            <a:ext cx="3108960" cy="402336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C8CDD4"/>
                </a:solidFill>
                <a:latin typeface="Helvetica Neue"/>
                <a:ea typeface="Hiragino Sans GB"/>
                <a:cs typeface="Hiragino Sans GB"/>
              </a:rPr>
              <a:t>InfiniBand / Spectrum-X 网络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3685032"/>
            <a:ext cx="3383280" cy="402336"/>
          </a:xfrm>
          <a:prstGeom prst="roundRect">
            <a:avLst>
              <a:gd name="adj" fmla="val 8000"/>
            </a:avLst>
          </a:prstGeom>
          <a:solidFill>
            <a:srgbClr val="121418"/>
          </a:solidFill>
          <a:ln w="12700">
            <a:solidFill>
              <a:srgbClr val="3238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40080" y="3685032"/>
            <a:ext cx="45720" cy="402336"/>
          </a:xfrm>
          <a:prstGeom prst="roundRect">
            <a:avLst>
              <a:gd name="adj" fmla="val 8000"/>
            </a:avLst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3685032"/>
            <a:ext cx="3108960" cy="402336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C8CDD4"/>
                </a:solidFill>
                <a:latin typeface="Helvetica Neue"/>
                <a:ea typeface="Hiragino Sans GB"/>
                <a:cs typeface="Hiragino Sans GB"/>
              </a:rPr>
              <a:t>CUDA 与 AI 软件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4114800" y="2697480"/>
            <a:ext cx="685800" cy="0"/>
          </a:xfrm>
          <a:prstGeom prst="line">
            <a:avLst/>
          </a:prstGeom>
          <a:ln w="22860">
            <a:solidFill>
              <a:srgbClr val="76B9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4937760" y="1828800"/>
            <a:ext cx="3657600" cy="2011680"/>
          </a:xfrm>
          <a:prstGeom prst="roundRect">
            <a:avLst>
              <a:gd name="adj" fmla="val 8000"/>
            </a:avLst>
          </a:prstGeom>
          <a:solidFill>
            <a:srgbClr val="121418"/>
          </a:solidFill>
          <a:ln w="13970">
            <a:solidFill>
              <a:srgbClr val="3238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24" name="Round Same Side Corner Rectangle 23"/>
          <p:cNvSpPr/>
          <p:nvPr/>
        </p:nvSpPr>
        <p:spPr>
          <a:xfrm>
            <a:off x="4937760" y="1828800"/>
            <a:ext cx="3657600" cy="54864"/>
          </a:xfrm>
          <a:prstGeom prst="round2SameRect">
            <a:avLst>
              <a:gd name="adj1" fmla="val 8000"/>
              <a:gd name="adj2" fmla="val 0"/>
            </a:avLst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pic>
        <p:nvPicPr>
          <p:cNvPr id="25" name="Picture 24" descr="i_box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38928" y="2029968"/>
            <a:ext cx="384048" cy="38404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5138928" y="2542032"/>
            <a:ext cx="3291840" cy="36576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Helvetica Neue"/>
                <a:ea typeface="Hiragino Sans GB"/>
                <a:cs typeface="Hiragino Sans GB"/>
              </a:rPr>
              <a:t>一座机架级 AI 工厂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38928" y="2907792"/>
            <a:ext cx="3246120" cy="73152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8CDD4"/>
                </a:solidFill>
                <a:latin typeface="Helvetica Neue"/>
                <a:ea typeface="Hiragino Sans GB"/>
                <a:cs typeface="Hiragino Sans GB"/>
              </a:rPr>
              <a:t>GB300 NVL72 把 72 颗 GPU 融合成一台巨型加速器，作为开箱即用的完整系统交付。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4370832"/>
            <a:ext cx="7955279" cy="36576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9AA3AE"/>
                </a:solidFill>
                <a:latin typeface="Helvetica Neue"/>
                <a:ea typeface="Hiragino Sans GB"/>
                <a:cs typeface="Hiragino Sans GB"/>
              </a:rPr>
              <a:t>数据中心是引擎：上季度 $75.2B，约占营收 92%（2027 财年一季度，截至 2026 年 4 月 26 日）。</a:t>
            </a:r>
          </a:p>
        </p:txBody>
      </p:sp>
      <p:pic>
        <p:nvPicPr>
          <p:cNvPr id="29" name="Picture 28" descr="nvidia_logo_d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9112" y="4846320"/>
            <a:ext cx="785439" cy="14356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7955279" y="4846320"/>
            <a:ext cx="731520" cy="18288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AA3AE"/>
                </a:solidFill>
                <a:latin typeface="Helvetica Neue"/>
                <a:ea typeface="Hiragino Sans GB"/>
                <a:cs typeface="Hiragino Sans GB"/>
              </a:rPr>
              <a:t>06 / 16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content.png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>
            <a:gsLst>
              <a:gs pos="0">
                <a:srgbClr val="0A0B0D">
                  <a:alpha val="34000"/>
                </a:srgbClr>
              </a:gs>
              <a:gs pos="100000">
                <a:srgbClr val="0A0B0D">
                  <a:alpha val="34000"/>
                </a:srgbClr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20624"/>
            <a:ext cx="8229600" cy="27432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76B900"/>
                </a:solidFill>
                <a:latin typeface="Helvetica Neue"/>
                <a:ea typeface="Hiragino Sans GB"/>
                <a:cs typeface="Hiragino Sans GB"/>
              </a:rPr>
              <a:t>年度节奏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8412480" cy="64008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Helvetica Neue"/>
                <a:ea typeface="Hiragino Sans GB"/>
                <a:cs typeface="Hiragino Sans GB"/>
              </a:rPr>
              <a:t>当下是 Blackwell Ultra，下一站 Vera Rubin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280160"/>
            <a:ext cx="1005840" cy="45720"/>
          </a:xfrm>
          <a:prstGeom prst="rect">
            <a:avLst/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22960" y="1828800"/>
            <a:ext cx="3657600" cy="1783080"/>
          </a:xfrm>
          <a:prstGeom prst="roundRect">
            <a:avLst>
              <a:gd name="adj" fmla="val 8000"/>
            </a:avLst>
          </a:prstGeom>
          <a:solidFill>
            <a:srgbClr val="121418"/>
          </a:solidFill>
          <a:ln w="13970">
            <a:solidFill>
              <a:srgbClr val="3238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8" name="Round Same Side Corner Rectangle 7"/>
          <p:cNvSpPr/>
          <p:nvPr/>
        </p:nvSpPr>
        <p:spPr>
          <a:xfrm>
            <a:off x="822960" y="1828800"/>
            <a:ext cx="3657600" cy="54864"/>
          </a:xfrm>
          <a:prstGeom prst="round2SameRect">
            <a:avLst>
              <a:gd name="adj1" fmla="val 8000"/>
              <a:gd name="adj2" fmla="val 0"/>
            </a:avLst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042416" y="2066543"/>
            <a:ext cx="640080" cy="274320"/>
          </a:xfrm>
          <a:prstGeom prst="roundRect">
            <a:avLst>
              <a:gd name="adj" fmla="val 8000"/>
            </a:avLst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42416" y="2080260"/>
            <a:ext cx="640080" cy="27432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A0B0D"/>
                </a:solidFill>
                <a:latin typeface="Helvetica Neue"/>
                <a:ea typeface="Hiragino Sans GB"/>
                <a:cs typeface="Hiragino Sans GB"/>
              </a:rPr>
              <a:t>现在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2416" y="2487168"/>
            <a:ext cx="3200400" cy="36576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Helvetica Neue"/>
                <a:ea typeface="Hiragino Sans GB"/>
                <a:cs typeface="Hiragino Sans GB"/>
              </a:rPr>
              <a:t>Blackwell Ultra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2416" y="2907792"/>
            <a:ext cx="3246120" cy="64008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C8CDD4"/>
                </a:solidFill>
                <a:latin typeface="Helvetica Neue"/>
                <a:ea typeface="Hiragino Sans GB"/>
                <a:cs typeface="Hiragino Sans GB"/>
              </a:rPr>
              <a:t>GB300 / GB300 NVL72，已在规模化出货。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709160" y="1828800"/>
            <a:ext cx="3657600" cy="1783080"/>
          </a:xfrm>
          <a:prstGeom prst="roundRect">
            <a:avLst>
              <a:gd name="adj" fmla="val 8000"/>
            </a:avLst>
          </a:prstGeom>
          <a:solidFill>
            <a:srgbClr val="121418"/>
          </a:solidFill>
          <a:ln w="13970">
            <a:solidFill>
              <a:srgbClr val="3238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14" name="Round Same Side Corner Rectangle 13"/>
          <p:cNvSpPr/>
          <p:nvPr/>
        </p:nvSpPr>
        <p:spPr>
          <a:xfrm>
            <a:off x="4709160" y="1828800"/>
            <a:ext cx="3657600" cy="54864"/>
          </a:xfrm>
          <a:prstGeom prst="round2SameRect">
            <a:avLst>
              <a:gd name="adj1" fmla="val 8000"/>
              <a:gd name="adj2" fmla="val 0"/>
            </a:avLst>
          </a:prstGeom>
          <a:solidFill>
            <a:srgbClr val="38E1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928616" y="2066543"/>
            <a:ext cx="640080" cy="274320"/>
          </a:xfrm>
          <a:prstGeom prst="roundRect">
            <a:avLst>
              <a:gd name="adj" fmla="val 8000"/>
            </a:avLst>
          </a:prstGeom>
          <a:solidFill>
            <a:srgbClr val="38E1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28616" y="2080260"/>
            <a:ext cx="640080" cy="27432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A0B0D"/>
                </a:solidFill>
                <a:latin typeface="Helvetica Neue"/>
                <a:ea typeface="Hiragino Sans GB"/>
                <a:cs typeface="Hiragino Sans GB"/>
              </a:rPr>
              <a:t>下一站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28616" y="2487168"/>
            <a:ext cx="3200400" cy="36576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Helvetica Neue"/>
                <a:ea typeface="Hiragino Sans GB"/>
                <a:cs typeface="Hiragino Sans GB"/>
              </a:rPr>
              <a:t>Vera Rubin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28616" y="2907792"/>
            <a:ext cx="3246120" cy="64008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C8CDD4"/>
                </a:solidFill>
                <a:latin typeface="Helvetica Neue"/>
                <a:ea typeface="Hiragino Sans GB"/>
                <a:cs typeface="Hiragino Sans GB"/>
              </a:rPr>
              <a:t>新一代平台，2026 年秋季全面量产。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526280" y="2715768"/>
            <a:ext cx="137160" cy="0"/>
          </a:xfrm>
          <a:prstGeom prst="line">
            <a:avLst/>
          </a:prstGeom>
          <a:ln w="22860">
            <a:solidFill>
              <a:srgbClr val="FFFFF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40080" y="4069080"/>
            <a:ext cx="7955279" cy="45720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AA3AE"/>
                </a:solidFill>
                <a:latin typeface="Helvetica Neue"/>
                <a:ea typeface="Hiragino Sans GB"/>
                <a:cs typeface="Hiragino Sans GB"/>
              </a:rPr>
              <a:t>截至 2026 年，Blackwell 加 Rubin 的累计订单已超过 $500B（2025 年 10 月 29 日披露）。</a:t>
            </a:r>
          </a:p>
        </p:txBody>
      </p:sp>
      <p:pic>
        <p:nvPicPr>
          <p:cNvPr id="21" name="Picture 20" descr="nvidia_logo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9112" y="4846320"/>
            <a:ext cx="785439" cy="14356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7955279" y="4846320"/>
            <a:ext cx="731520" cy="18288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AA3AE"/>
                </a:solidFill>
                <a:latin typeface="Helvetica Neue"/>
                <a:ea typeface="Hiragino Sans GB"/>
                <a:cs typeface="Hiragino Sans GB"/>
              </a:rPr>
              <a:t>07 / 16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content.png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>
            <a:gsLst>
              <a:gs pos="0">
                <a:srgbClr val="0A0B0D">
                  <a:alpha val="34000"/>
                </a:srgbClr>
              </a:gs>
              <a:gs pos="100000">
                <a:srgbClr val="0A0B0D">
                  <a:alpha val="34000"/>
                </a:srgbClr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20624"/>
            <a:ext cx="8229600" cy="27432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76B900"/>
                </a:solidFill>
                <a:latin typeface="Helvetica Neue"/>
                <a:ea typeface="Hiragino Sans GB"/>
                <a:cs typeface="Hiragino Sans GB"/>
              </a:rPr>
              <a:t>谁在用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8412480" cy="64008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Helvetica Neue"/>
                <a:ea typeface="Hiragino Sans GB"/>
                <a:cs typeface="Hiragino Sans GB"/>
              </a:rPr>
              <a:t>谁跑在 NVIDIA 上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280160"/>
            <a:ext cx="1005840" cy="45720"/>
          </a:xfrm>
          <a:prstGeom prst="rect">
            <a:avLst/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5760" y="1737360"/>
            <a:ext cx="2560319" cy="2468880"/>
          </a:xfrm>
          <a:prstGeom prst="roundRect">
            <a:avLst>
              <a:gd name="adj" fmla="val 8000"/>
            </a:avLst>
          </a:prstGeom>
          <a:solidFill>
            <a:srgbClr val="121418"/>
          </a:solidFill>
          <a:ln w="13970">
            <a:solidFill>
              <a:srgbClr val="3238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8" name="Round Same Side Corner Rectangle 7"/>
          <p:cNvSpPr/>
          <p:nvPr/>
        </p:nvSpPr>
        <p:spPr>
          <a:xfrm>
            <a:off x="365760" y="1737360"/>
            <a:ext cx="2560319" cy="54864"/>
          </a:xfrm>
          <a:prstGeom prst="round2SameRect">
            <a:avLst>
              <a:gd name="adj1" fmla="val 8000"/>
              <a:gd name="adj2" fmla="val 0"/>
            </a:avLst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pic>
        <p:nvPicPr>
          <p:cNvPr id="9" name="Picture 8" descr="i_cl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" y="2011679"/>
            <a:ext cx="365760" cy="3657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143000" y="2029967"/>
            <a:ext cx="1645919" cy="36576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Helvetica Neue"/>
                <a:ea typeface="Hiragino Sans GB"/>
                <a:cs typeface="Hiragino Sans GB"/>
              </a:rPr>
              <a:t>云与 AI 服务商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3504" y="2697480"/>
            <a:ext cx="2084831" cy="292608"/>
          </a:xfrm>
          <a:prstGeom prst="roundRect">
            <a:avLst>
              <a:gd name="adj" fmla="val 8000"/>
            </a:avLst>
          </a:prstGeom>
          <a:solidFill>
            <a:srgbClr val="1A1D22"/>
          </a:solidFill>
          <a:ln w="10160">
            <a:solidFill>
              <a:srgbClr val="3238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3504" y="2697480"/>
            <a:ext cx="2084831" cy="292608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C8CDD4"/>
                </a:solidFill>
                <a:latin typeface="Helvetica Neue"/>
                <a:ea typeface="Hiragino Sans GB"/>
                <a:cs typeface="Hiragino Sans GB"/>
              </a:rPr>
              <a:t>CoreWeave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3504" y="3081528"/>
            <a:ext cx="2084831" cy="292608"/>
          </a:xfrm>
          <a:prstGeom prst="roundRect">
            <a:avLst>
              <a:gd name="adj" fmla="val 8000"/>
            </a:avLst>
          </a:prstGeom>
          <a:solidFill>
            <a:srgbClr val="1A1D22"/>
          </a:solidFill>
          <a:ln w="10160">
            <a:solidFill>
              <a:srgbClr val="3238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3504" y="3081528"/>
            <a:ext cx="2084831" cy="292608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C8CDD4"/>
                </a:solidFill>
                <a:latin typeface="Helvetica Neue"/>
                <a:ea typeface="Hiragino Sans GB"/>
                <a:cs typeface="Hiragino Sans GB"/>
              </a:rPr>
              <a:t>Oracle Cloud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3504" y="3465576"/>
            <a:ext cx="2084831" cy="292608"/>
          </a:xfrm>
          <a:prstGeom prst="roundRect">
            <a:avLst>
              <a:gd name="adj" fmla="val 8000"/>
            </a:avLst>
          </a:prstGeom>
          <a:solidFill>
            <a:srgbClr val="1A1D22"/>
          </a:solidFill>
          <a:ln w="10160">
            <a:solidFill>
              <a:srgbClr val="3238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03504" y="3465576"/>
            <a:ext cx="2084831" cy="292608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C8CDD4"/>
                </a:solidFill>
                <a:latin typeface="Helvetica Neue"/>
                <a:ea typeface="Hiragino Sans GB"/>
                <a:cs typeface="Hiragino Sans GB"/>
              </a:rPr>
              <a:t>Microsoft Azure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03504" y="3849624"/>
            <a:ext cx="2084831" cy="292608"/>
          </a:xfrm>
          <a:prstGeom prst="roundRect">
            <a:avLst>
              <a:gd name="adj" fmla="val 8000"/>
            </a:avLst>
          </a:prstGeom>
          <a:solidFill>
            <a:srgbClr val="1A1D22"/>
          </a:solidFill>
          <a:ln w="10160">
            <a:solidFill>
              <a:srgbClr val="3238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03504" y="3849624"/>
            <a:ext cx="2084831" cy="292608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C8CDD4"/>
                </a:solidFill>
                <a:latin typeface="Helvetica Neue"/>
                <a:ea typeface="Hiragino Sans GB"/>
                <a:cs typeface="Hiragino Sans GB"/>
              </a:rPr>
              <a:t>Lambda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291839" y="1737360"/>
            <a:ext cx="2560319" cy="2468880"/>
          </a:xfrm>
          <a:prstGeom prst="roundRect">
            <a:avLst>
              <a:gd name="adj" fmla="val 8000"/>
            </a:avLst>
          </a:prstGeom>
          <a:solidFill>
            <a:srgbClr val="121418"/>
          </a:solidFill>
          <a:ln w="13970">
            <a:solidFill>
              <a:srgbClr val="3238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20" name="Round Same Side Corner Rectangle 19"/>
          <p:cNvSpPr/>
          <p:nvPr/>
        </p:nvSpPr>
        <p:spPr>
          <a:xfrm>
            <a:off x="3291839" y="1737360"/>
            <a:ext cx="2560319" cy="54864"/>
          </a:xfrm>
          <a:prstGeom prst="round2SameRect">
            <a:avLst>
              <a:gd name="adj1" fmla="val 8000"/>
              <a:gd name="adj2" fmla="val 0"/>
            </a:avLst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pic>
        <p:nvPicPr>
          <p:cNvPr id="21" name="Picture 20" descr="i_serv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29583" y="2011679"/>
            <a:ext cx="365760" cy="36576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4069079" y="2029967"/>
            <a:ext cx="1645919" cy="36576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Helvetica Neue"/>
                <a:ea typeface="Hiragino Sans GB"/>
                <a:cs typeface="Hiragino Sans GB"/>
              </a:rPr>
              <a:t>系统厂商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529583" y="2697480"/>
            <a:ext cx="2084831" cy="292608"/>
          </a:xfrm>
          <a:prstGeom prst="roundRect">
            <a:avLst>
              <a:gd name="adj" fmla="val 8000"/>
            </a:avLst>
          </a:prstGeom>
          <a:solidFill>
            <a:srgbClr val="1A1D22"/>
          </a:solidFill>
          <a:ln w="10160">
            <a:solidFill>
              <a:srgbClr val="3238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529583" y="2697480"/>
            <a:ext cx="2084831" cy="292608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C8CDD4"/>
                </a:solidFill>
                <a:latin typeface="Helvetica Neue"/>
                <a:ea typeface="Hiragino Sans GB"/>
                <a:cs typeface="Hiragino Sans GB"/>
              </a:rPr>
              <a:t>Dell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529583" y="3081528"/>
            <a:ext cx="2084831" cy="292608"/>
          </a:xfrm>
          <a:prstGeom prst="roundRect">
            <a:avLst>
              <a:gd name="adj" fmla="val 8000"/>
            </a:avLst>
          </a:prstGeom>
          <a:solidFill>
            <a:srgbClr val="1A1D22"/>
          </a:solidFill>
          <a:ln w="10160">
            <a:solidFill>
              <a:srgbClr val="3238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29583" y="3081528"/>
            <a:ext cx="2084831" cy="292608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C8CDD4"/>
                </a:solidFill>
                <a:latin typeface="Helvetica Neue"/>
                <a:ea typeface="Hiragino Sans GB"/>
                <a:cs typeface="Hiragino Sans GB"/>
              </a:rPr>
              <a:t>HPE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529583" y="3465576"/>
            <a:ext cx="2084831" cy="292608"/>
          </a:xfrm>
          <a:prstGeom prst="roundRect">
            <a:avLst>
              <a:gd name="adj" fmla="val 8000"/>
            </a:avLst>
          </a:prstGeom>
          <a:solidFill>
            <a:srgbClr val="1A1D22"/>
          </a:solidFill>
          <a:ln w="10160">
            <a:solidFill>
              <a:srgbClr val="3238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529583" y="3465576"/>
            <a:ext cx="2084831" cy="292608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C8CDD4"/>
                </a:solidFill>
                <a:latin typeface="Helvetica Neue"/>
                <a:ea typeface="Hiragino Sans GB"/>
                <a:cs typeface="Hiragino Sans GB"/>
              </a:rPr>
              <a:t>Lenovo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529583" y="3849624"/>
            <a:ext cx="2084831" cy="292608"/>
          </a:xfrm>
          <a:prstGeom prst="roundRect">
            <a:avLst>
              <a:gd name="adj" fmla="val 8000"/>
            </a:avLst>
          </a:prstGeom>
          <a:solidFill>
            <a:srgbClr val="1A1D22"/>
          </a:solidFill>
          <a:ln w="10160">
            <a:solidFill>
              <a:srgbClr val="3238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529583" y="3849624"/>
            <a:ext cx="2084831" cy="292608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C8CDD4"/>
                </a:solidFill>
                <a:latin typeface="Helvetica Neue"/>
                <a:ea typeface="Hiragino Sans GB"/>
                <a:cs typeface="Hiragino Sans GB"/>
              </a:rPr>
              <a:t>Supermicro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17919" y="1737360"/>
            <a:ext cx="2560319" cy="2468880"/>
          </a:xfrm>
          <a:prstGeom prst="roundRect">
            <a:avLst>
              <a:gd name="adj" fmla="val 8000"/>
            </a:avLst>
          </a:prstGeom>
          <a:solidFill>
            <a:srgbClr val="121418"/>
          </a:solidFill>
          <a:ln w="13970">
            <a:solidFill>
              <a:srgbClr val="3238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32" name="Round Same Side Corner Rectangle 31"/>
          <p:cNvSpPr/>
          <p:nvPr/>
        </p:nvSpPr>
        <p:spPr>
          <a:xfrm>
            <a:off x="6217919" y="1737360"/>
            <a:ext cx="2560319" cy="54864"/>
          </a:xfrm>
          <a:prstGeom prst="round2SameRect">
            <a:avLst>
              <a:gd name="adj1" fmla="val 8000"/>
              <a:gd name="adj2" fmla="val 0"/>
            </a:avLst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pic>
        <p:nvPicPr>
          <p:cNvPr id="33" name="Picture 32" descr="i_glob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55663" y="2011679"/>
            <a:ext cx="365760" cy="36576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6995159" y="2029967"/>
            <a:ext cx="1645919" cy="36576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Helvetica Neue"/>
                <a:ea typeface="Hiragino Sans GB"/>
                <a:cs typeface="Hiragino Sans GB"/>
              </a:rPr>
              <a:t>主权 AI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55663" y="2651760"/>
            <a:ext cx="2103119" cy="64008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600" b="1" i="0">
                <a:solidFill>
                  <a:srgbClr val="76B900"/>
                </a:solidFill>
                <a:latin typeface="Helvetica Neue"/>
                <a:ea typeface="Hiragino Sans GB"/>
                <a:cs typeface="Hiragino Sans GB"/>
              </a:rPr>
              <a:t>约 40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55663" y="3520439"/>
            <a:ext cx="2103119" cy="64008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8CDD4"/>
                </a:solidFill>
                <a:latin typeface="Helvetica Neue"/>
                <a:ea typeface="Hiragino Sans GB"/>
                <a:cs typeface="Hiragino Sans GB"/>
              </a:rPr>
              <a:t>个国家正在 NVIDIA 上搭建本国的国家级 AI 基础设施。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4608576"/>
            <a:ext cx="8229600" cy="18288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9AA3AE"/>
                </a:solidFill>
                <a:latin typeface="Helvetica Neue"/>
                <a:ea typeface="Hiragino Sans GB"/>
                <a:cs typeface="Hiragino Sans GB"/>
              </a:rPr>
              <a:t>云 / OEM 合作伙伴，以及约 40 国的主权 AI 计数，截至 2025–26 年。</a:t>
            </a:r>
          </a:p>
        </p:txBody>
      </p:sp>
      <p:pic>
        <p:nvPicPr>
          <p:cNvPr id="38" name="Picture 37" descr="nvidia_logo_dar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9112" y="4846320"/>
            <a:ext cx="785439" cy="143560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7955279" y="4846320"/>
            <a:ext cx="731520" cy="18288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AA3AE"/>
                </a:solidFill>
                <a:latin typeface="Helvetica Neue"/>
                <a:ea typeface="Hiragino Sans GB"/>
                <a:cs typeface="Hiragino Sans GB"/>
              </a:rPr>
              <a:t>08 / 16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content.png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>
            <a:gsLst>
              <a:gs pos="0">
                <a:srgbClr val="0A0B0D">
                  <a:alpha val="34000"/>
                </a:srgbClr>
              </a:gs>
              <a:gs pos="100000">
                <a:srgbClr val="0A0B0D">
                  <a:alpha val="34000"/>
                </a:srgbClr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20624"/>
            <a:ext cx="8229600" cy="27432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76B900"/>
                </a:solidFill>
                <a:latin typeface="Helvetica Neue"/>
                <a:ea typeface="Hiragino Sans GB"/>
                <a:cs typeface="Hiragino Sans GB"/>
              </a:rPr>
              <a:t>护城河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8412480" cy="64008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Helvetica Neue"/>
                <a:ea typeface="Hiragino Sans GB"/>
                <a:cs typeface="Hiragino Sans GB"/>
              </a:rPr>
              <a:t>软件才是持久的优势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280160"/>
            <a:ext cx="1005840" cy="45720"/>
          </a:xfrm>
          <a:prstGeom prst="rect">
            <a:avLst/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3504" y="1993392"/>
            <a:ext cx="3291840" cy="676656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r>
              <a:rPr sz="2400">
                <a:solidFill>
                  <a:srgbClr val="76B900"/>
                </a:solidFill>
                <a:ea typeface="Hiragino Sans GB"/>
              </a:rPr>
              <a:t>约</a:t>
            </a:r>
          </a:p>
          <a:p>
            <a:r>
              <a:rPr sz="2400">
                <a:solidFill>
                  <a:srgbClr val="76B900"/>
                </a:solidFill>
                <a:ea typeface="Hiragino Sans GB"/>
              </a:rPr>
              <a:t>600 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88920"/>
            <a:ext cx="3200400" cy="45720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Helvetica Neue"/>
                <a:ea typeface="Hiragino Sans GB"/>
                <a:cs typeface="Hiragino Sans GB"/>
              </a:rPr>
              <a:t>全球开发者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127248"/>
            <a:ext cx="3200400" cy="64008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AA3AE"/>
                </a:solidFill>
                <a:latin typeface="Helvetica Neue"/>
                <a:ea typeface="Hiragino Sans GB"/>
                <a:cs typeface="Hiragino Sans GB"/>
              </a:rPr>
              <a:t>200+ 个国家 · 900+ 个 CUDA-X 库（截至 GTC 2025）。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7680" y="1929384"/>
            <a:ext cx="82296" cy="82296"/>
          </a:xfrm>
          <a:prstGeom prst="rect">
            <a:avLst/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26280" y="1874519"/>
            <a:ext cx="4023360" cy="64008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C8CDD4"/>
                </a:solidFill>
                <a:latin typeface="Helvetica Neue"/>
                <a:ea typeface="Hiragino Sans GB"/>
                <a:cs typeface="Hiragino Sans GB"/>
              </a:rPr>
              <a:t>CUDA（始于 2006 年）让每一颗 NVIDIA GPU 都能即刻编程。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97680" y="2679191"/>
            <a:ext cx="82296" cy="82296"/>
          </a:xfrm>
          <a:prstGeom prst="rect">
            <a:avLst/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26280" y="2624327"/>
            <a:ext cx="4023360" cy="64008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C8CDD4"/>
                </a:solidFill>
                <a:latin typeface="Helvetica Neue"/>
                <a:ea typeface="Hiragino Sans GB"/>
                <a:cs typeface="Hiragino Sans GB"/>
              </a:rPr>
              <a:t>AI Enterprise、NIM 微服务和开放的 Nemotron 模型，把它带进生产环境。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97680" y="3428999"/>
            <a:ext cx="82296" cy="82296"/>
          </a:xfrm>
          <a:prstGeom prst="rect">
            <a:avLst/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26280" y="3374135"/>
            <a:ext cx="4023360" cy="64008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C8CDD4"/>
                </a:solidFill>
                <a:latin typeface="Helvetica Neue"/>
                <a:ea typeface="Hiragino Sans GB"/>
                <a:cs typeface="Hiragino Sans GB"/>
              </a:rPr>
              <a:t>生态越大，就越难离开这个平台。</a:t>
            </a:r>
          </a:p>
        </p:txBody>
      </p:sp>
      <p:pic>
        <p:nvPicPr>
          <p:cNvPr id="16" name="Picture 15" descr="nvidia_logo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9112" y="4846320"/>
            <a:ext cx="785439" cy="14356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955279" y="4846320"/>
            <a:ext cx="731520" cy="18288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AA3AE"/>
                </a:solidFill>
                <a:latin typeface="Helvetica Neue"/>
                <a:ea typeface="Hiragino Sans GB"/>
                <a:cs typeface="Hiragino Sans GB"/>
              </a:rPr>
              <a:t>09 / 16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content.png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>
            <a:gsLst>
              <a:gs pos="0">
                <a:srgbClr val="0A0B0D">
                  <a:alpha val="34000"/>
                </a:srgbClr>
              </a:gs>
              <a:gs pos="100000">
                <a:srgbClr val="0A0B0D">
                  <a:alpha val="34000"/>
                </a:srgbClr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20624"/>
            <a:ext cx="8229600" cy="27432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76B900"/>
                </a:solidFill>
                <a:latin typeface="Helvetica Neue"/>
                <a:ea typeface="Hiragino Sans GB"/>
                <a:cs typeface="Hiragino Sans GB"/>
              </a:rPr>
              <a:t>网络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8412480" cy="64008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Helvetica Neue"/>
                <a:ea typeface="Hiragino Sans GB"/>
                <a:cs typeface="Hiragino Sans GB"/>
              </a:rPr>
              <a:t>把上千颗 GPU 连成一台计算机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280160"/>
            <a:ext cx="1005840" cy="45720"/>
          </a:xfrm>
          <a:prstGeom prst="rect">
            <a:avLst/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1783080"/>
            <a:ext cx="5166360" cy="1874519"/>
          </a:xfrm>
          <a:prstGeom prst="roundRect">
            <a:avLst>
              <a:gd name="adj" fmla="val 8000"/>
            </a:avLst>
          </a:prstGeom>
          <a:solidFill>
            <a:srgbClr val="0E1216"/>
          </a:solidFill>
          <a:ln w="13970">
            <a:solidFill>
              <a:srgbClr val="3238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cxnSp>
        <p:nvCxnSpPr>
          <p:cNvPr id="8" name="Connector 7"/>
          <p:cNvCxnSpPr/>
          <p:nvPr/>
        </p:nvCxnSpPr>
        <p:spPr>
          <a:xfrm>
            <a:off x="1417319" y="2313432"/>
            <a:ext cx="899161" cy="0"/>
          </a:xfrm>
          <a:prstGeom prst="line">
            <a:avLst/>
          </a:prstGeom>
          <a:ln w="13970">
            <a:solidFill>
              <a:srgbClr val="76B9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2773680" y="2313432"/>
            <a:ext cx="899160" cy="0"/>
          </a:xfrm>
          <a:prstGeom prst="line">
            <a:avLst/>
          </a:prstGeom>
          <a:ln w="13970">
            <a:solidFill>
              <a:srgbClr val="76B9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130040" y="2313432"/>
            <a:ext cx="899160" cy="0"/>
          </a:xfrm>
          <a:prstGeom prst="line">
            <a:avLst/>
          </a:prstGeom>
          <a:ln w="13970">
            <a:solidFill>
              <a:srgbClr val="76B9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417319" y="2862072"/>
            <a:ext cx="899161" cy="0"/>
          </a:xfrm>
          <a:prstGeom prst="line">
            <a:avLst/>
          </a:prstGeom>
          <a:ln w="13970">
            <a:solidFill>
              <a:srgbClr val="76B9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2773680" y="2862072"/>
            <a:ext cx="899160" cy="0"/>
          </a:xfrm>
          <a:prstGeom prst="line">
            <a:avLst/>
          </a:prstGeom>
          <a:ln w="13970">
            <a:solidFill>
              <a:srgbClr val="76B9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130040" y="2862072"/>
            <a:ext cx="899160" cy="0"/>
          </a:xfrm>
          <a:prstGeom prst="line">
            <a:avLst/>
          </a:prstGeom>
          <a:ln w="13970">
            <a:solidFill>
              <a:srgbClr val="76B9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188719" y="2478024"/>
            <a:ext cx="0" cy="219455"/>
          </a:xfrm>
          <a:prstGeom prst="line">
            <a:avLst/>
          </a:prstGeom>
          <a:ln w="12700">
            <a:solidFill>
              <a:srgbClr val="76B9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2545080" y="2478024"/>
            <a:ext cx="0" cy="219455"/>
          </a:xfrm>
          <a:prstGeom prst="line">
            <a:avLst/>
          </a:prstGeom>
          <a:ln w="12700">
            <a:solidFill>
              <a:srgbClr val="76B9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3901440" y="2478024"/>
            <a:ext cx="0" cy="219455"/>
          </a:xfrm>
          <a:prstGeom prst="line">
            <a:avLst/>
          </a:prstGeom>
          <a:ln w="12700">
            <a:solidFill>
              <a:srgbClr val="76B9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5257800" y="2478024"/>
            <a:ext cx="0" cy="219455"/>
          </a:xfrm>
          <a:prstGeom prst="line">
            <a:avLst/>
          </a:prstGeom>
          <a:ln w="12700">
            <a:solidFill>
              <a:srgbClr val="76B9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960119" y="2148839"/>
            <a:ext cx="457200" cy="329184"/>
          </a:xfrm>
          <a:prstGeom prst="roundRect">
            <a:avLst>
              <a:gd name="adj" fmla="val 8000"/>
            </a:avLst>
          </a:prstGeom>
          <a:solidFill>
            <a:srgbClr val="121418"/>
          </a:solidFill>
          <a:ln w="13970">
            <a:solidFill>
              <a:srgbClr val="76B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pic>
        <p:nvPicPr>
          <p:cNvPr id="19" name="Picture 18" descr="s_a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8991" y="2203703"/>
            <a:ext cx="219456" cy="219456"/>
          </a:xfrm>
          <a:prstGeom prst="rect">
            <a:avLst/>
          </a:prstGeom>
        </p:spPr>
      </p:pic>
      <p:sp>
        <p:nvSpPr>
          <p:cNvPr id="20" name="Rounded Rectangle 19"/>
          <p:cNvSpPr/>
          <p:nvPr/>
        </p:nvSpPr>
        <p:spPr>
          <a:xfrm>
            <a:off x="2316480" y="2148839"/>
            <a:ext cx="457200" cy="329184"/>
          </a:xfrm>
          <a:prstGeom prst="roundRect">
            <a:avLst>
              <a:gd name="adj" fmla="val 8000"/>
            </a:avLst>
          </a:prstGeom>
          <a:solidFill>
            <a:srgbClr val="121418"/>
          </a:solidFill>
          <a:ln w="13970">
            <a:solidFill>
              <a:srgbClr val="76B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pic>
        <p:nvPicPr>
          <p:cNvPr id="21" name="Picture 20" descr="s_a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35352" y="2203703"/>
            <a:ext cx="219456" cy="219456"/>
          </a:xfrm>
          <a:prstGeom prst="rect">
            <a:avLst/>
          </a:prstGeom>
        </p:spPr>
      </p:pic>
      <p:sp>
        <p:nvSpPr>
          <p:cNvPr id="22" name="Rounded Rectangle 21"/>
          <p:cNvSpPr/>
          <p:nvPr/>
        </p:nvSpPr>
        <p:spPr>
          <a:xfrm>
            <a:off x="3672840" y="2148839"/>
            <a:ext cx="457200" cy="329184"/>
          </a:xfrm>
          <a:prstGeom prst="roundRect">
            <a:avLst>
              <a:gd name="adj" fmla="val 8000"/>
            </a:avLst>
          </a:prstGeom>
          <a:solidFill>
            <a:srgbClr val="121418"/>
          </a:solidFill>
          <a:ln w="13970">
            <a:solidFill>
              <a:srgbClr val="76B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pic>
        <p:nvPicPr>
          <p:cNvPr id="23" name="Picture 22" descr="s_a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91712" y="2203703"/>
            <a:ext cx="219456" cy="219456"/>
          </a:xfrm>
          <a:prstGeom prst="rect">
            <a:avLst/>
          </a:prstGeom>
        </p:spPr>
      </p:pic>
      <p:sp>
        <p:nvSpPr>
          <p:cNvPr id="24" name="Rounded Rectangle 23"/>
          <p:cNvSpPr/>
          <p:nvPr/>
        </p:nvSpPr>
        <p:spPr>
          <a:xfrm>
            <a:off x="5029200" y="2148839"/>
            <a:ext cx="457200" cy="329184"/>
          </a:xfrm>
          <a:prstGeom prst="roundRect">
            <a:avLst>
              <a:gd name="adj" fmla="val 8000"/>
            </a:avLst>
          </a:prstGeom>
          <a:solidFill>
            <a:srgbClr val="121418"/>
          </a:solidFill>
          <a:ln w="13970">
            <a:solidFill>
              <a:srgbClr val="76B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pic>
        <p:nvPicPr>
          <p:cNvPr id="25" name="Picture 24" descr="s_a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48072" y="2203703"/>
            <a:ext cx="219456" cy="219456"/>
          </a:xfrm>
          <a:prstGeom prst="rect">
            <a:avLst/>
          </a:prstGeom>
        </p:spPr>
      </p:pic>
      <p:sp>
        <p:nvSpPr>
          <p:cNvPr id="26" name="Rounded Rectangle 25"/>
          <p:cNvSpPr/>
          <p:nvPr/>
        </p:nvSpPr>
        <p:spPr>
          <a:xfrm>
            <a:off x="960119" y="2697479"/>
            <a:ext cx="457200" cy="329184"/>
          </a:xfrm>
          <a:prstGeom prst="roundRect">
            <a:avLst>
              <a:gd name="adj" fmla="val 8000"/>
            </a:avLst>
          </a:prstGeom>
          <a:solidFill>
            <a:srgbClr val="121418"/>
          </a:solidFill>
          <a:ln w="13970">
            <a:solidFill>
              <a:srgbClr val="76B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pic>
        <p:nvPicPr>
          <p:cNvPr id="27" name="Picture 26" descr="s_a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8991" y="2752344"/>
            <a:ext cx="219456" cy="219456"/>
          </a:xfrm>
          <a:prstGeom prst="rect">
            <a:avLst/>
          </a:prstGeom>
        </p:spPr>
      </p:pic>
      <p:sp>
        <p:nvSpPr>
          <p:cNvPr id="28" name="Rounded Rectangle 27"/>
          <p:cNvSpPr/>
          <p:nvPr/>
        </p:nvSpPr>
        <p:spPr>
          <a:xfrm>
            <a:off x="2316480" y="2697479"/>
            <a:ext cx="457200" cy="329184"/>
          </a:xfrm>
          <a:prstGeom prst="roundRect">
            <a:avLst>
              <a:gd name="adj" fmla="val 8000"/>
            </a:avLst>
          </a:prstGeom>
          <a:solidFill>
            <a:srgbClr val="121418"/>
          </a:solidFill>
          <a:ln w="13970">
            <a:solidFill>
              <a:srgbClr val="76B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pic>
        <p:nvPicPr>
          <p:cNvPr id="29" name="Picture 28" descr="s_a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35352" y="2752344"/>
            <a:ext cx="219456" cy="219456"/>
          </a:xfrm>
          <a:prstGeom prst="rect">
            <a:avLst/>
          </a:prstGeom>
        </p:spPr>
      </p:pic>
      <p:sp>
        <p:nvSpPr>
          <p:cNvPr id="30" name="Rounded Rectangle 29"/>
          <p:cNvSpPr/>
          <p:nvPr/>
        </p:nvSpPr>
        <p:spPr>
          <a:xfrm>
            <a:off x="3672840" y="2697479"/>
            <a:ext cx="457200" cy="329184"/>
          </a:xfrm>
          <a:prstGeom prst="roundRect">
            <a:avLst>
              <a:gd name="adj" fmla="val 8000"/>
            </a:avLst>
          </a:prstGeom>
          <a:solidFill>
            <a:srgbClr val="121418"/>
          </a:solidFill>
          <a:ln w="13970">
            <a:solidFill>
              <a:srgbClr val="76B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pic>
        <p:nvPicPr>
          <p:cNvPr id="31" name="Picture 30" descr="s_a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91712" y="2752344"/>
            <a:ext cx="219456" cy="219456"/>
          </a:xfrm>
          <a:prstGeom prst="rect">
            <a:avLst/>
          </a:prstGeom>
        </p:spPr>
      </p:pic>
      <p:sp>
        <p:nvSpPr>
          <p:cNvPr id="32" name="Rounded Rectangle 31"/>
          <p:cNvSpPr/>
          <p:nvPr/>
        </p:nvSpPr>
        <p:spPr>
          <a:xfrm>
            <a:off x="5029200" y="2697479"/>
            <a:ext cx="457200" cy="329184"/>
          </a:xfrm>
          <a:prstGeom prst="roundRect">
            <a:avLst>
              <a:gd name="adj" fmla="val 8000"/>
            </a:avLst>
          </a:prstGeom>
          <a:solidFill>
            <a:srgbClr val="121418"/>
          </a:solidFill>
          <a:ln w="13970">
            <a:solidFill>
              <a:srgbClr val="76B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pic>
        <p:nvPicPr>
          <p:cNvPr id="33" name="Picture 32" descr="s_a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48072" y="2752344"/>
            <a:ext cx="219456" cy="219456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640080" y="3346704"/>
            <a:ext cx="5166360" cy="256032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C8CDD4"/>
                </a:solidFill>
                <a:latin typeface="Helvetica Neue"/>
                <a:ea typeface="Hiragino Sans GB"/>
                <a:cs typeface="Hiragino Sans GB"/>
              </a:rPr>
              <a:t>一张 NVLink + InfiniBand / Spectrum-X 互联网络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035040" y="1828800"/>
            <a:ext cx="2606040" cy="1874519"/>
          </a:xfrm>
          <a:prstGeom prst="roundRect">
            <a:avLst>
              <a:gd name="adj" fmla="val 8000"/>
            </a:avLst>
          </a:prstGeom>
          <a:solidFill>
            <a:srgbClr val="121418"/>
          </a:solidFill>
          <a:ln w="13970">
            <a:solidFill>
              <a:srgbClr val="3238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6035040" y="1828800"/>
            <a:ext cx="54864" cy="1874519"/>
          </a:xfrm>
          <a:prstGeom prst="roundRect">
            <a:avLst>
              <a:gd name="adj" fmla="val 8000"/>
            </a:avLst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254496" y="2084831"/>
            <a:ext cx="2286000" cy="45720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76B900"/>
                </a:solidFill>
                <a:latin typeface="Helvetica Neue"/>
                <a:ea typeface="Hiragino Sans GB"/>
                <a:cs typeface="Hiragino Sans GB"/>
              </a:rPr>
              <a:t>$14.8B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63640" y="2670048"/>
            <a:ext cx="2194560" cy="32004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Helvetica Neue"/>
                <a:ea typeface="Hiragino Sans GB"/>
                <a:cs typeface="Hiragino Sans GB"/>
              </a:rPr>
              <a:t>上季度网络业务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63640" y="3017520"/>
            <a:ext cx="2194560" cy="54864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AA3AE"/>
                </a:solidFill>
                <a:latin typeface="Helvetica Neue"/>
                <a:ea typeface="Hiragino Sans GB"/>
                <a:cs typeface="Hiragino Sans GB"/>
              </a:rPr>
              <a:t>同比 +199%；Spectrum-X 年化营收已过 $10B。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0080" y="4114800"/>
            <a:ext cx="7955279" cy="36576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9AA3AE"/>
                </a:solidFill>
                <a:latin typeface="Helvetica Neue"/>
                <a:ea typeface="Hiragino Sans GB"/>
                <a:cs typeface="Hiragino Sans GB"/>
              </a:rPr>
              <a:t>2020 年收购 Mellanox，让 NVIDIA 成为全栈网络公司。</a:t>
            </a:r>
          </a:p>
        </p:txBody>
      </p:sp>
      <p:pic>
        <p:nvPicPr>
          <p:cNvPr id="41" name="Picture 40" descr="nvidia_logo_d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9112" y="4846320"/>
            <a:ext cx="785439" cy="143560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7955279" y="4846320"/>
            <a:ext cx="731520" cy="18288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AA3AE"/>
                </a:solidFill>
                <a:latin typeface="Helvetica Neue"/>
                <a:ea typeface="Hiragino Sans GB"/>
                <a:cs typeface="Hiragino Sans GB"/>
              </a:rPr>
              <a:t>10 / 16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content.png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>
            <a:gsLst>
              <a:gs pos="0">
                <a:srgbClr val="0A0B0D">
                  <a:alpha val="34000"/>
                </a:srgbClr>
              </a:gs>
              <a:gs pos="100000">
                <a:srgbClr val="0A0B0D">
                  <a:alpha val="34000"/>
                </a:srgbClr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20624"/>
            <a:ext cx="8229600" cy="27432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76B900"/>
                </a:solidFill>
                <a:latin typeface="Helvetica Neue"/>
                <a:ea typeface="Hiragino Sans GB"/>
                <a:cs typeface="Hiragino Sans GB"/>
              </a:rPr>
              <a:t>游戏 · 一切的起点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8412480" cy="64008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Helvetica Neue"/>
                <a:ea typeface="Hiragino Sans GB"/>
                <a:cs typeface="Hiragino Sans GB"/>
              </a:rPr>
              <a:t>GeForce RTX，实时、AI 加速的图形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280160"/>
            <a:ext cx="1005840" cy="45720"/>
          </a:xfrm>
          <a:prstGeom prst="rect">
            <a:avLst/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5760" y="1783080"/>
            <a:ext cx="1828799" cy="2103120"/>
          </a:xfrm>
          <a:prstGeom prst="roundRect">
            <a:avLst>
              <a:gd name="adj" fmla="val 8000"/>
            </a:avLst>
          </a:prstGeom>
          <a:solidFill>
            <a:srgbClr val="121418"/>
          </a:solidFill>
          <a:ln w="13970">
            <a:solidFill>
              <a:srgbClr val="3238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8" name="Round Same Side Corner Rectangle 7"/>
          <p:cNvSpPr/>
          <p:nvPr/>
        </p:nvSpPr>
        <p:spPr>
          <a:xfrm>
            <a:off x="365760" y="1783080"/>
            <a:ext cx="1828799" cy="54864"/>
          </a:xfrm>
          <a:prstGeom prst="round2SameRect">
            <a:avLst>
              <a:gd name="adj1" fmla="val 8000"/>
              <a:gd name="adj2" fmla="val 0"/>
            </a:avLst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pic>
        <p:nvPicPr>
          <p:cNvPr id="9" name="Picture 8" descr="i_gau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2057400"/>
            <a:ext cx="365760" cy="3657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66928" y="2624328"/>
            <a:ext cx="1426463" cy="45720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Helvetica Neue"/>
                <a:ea typeface="Hiragino Sans GB"/>
                <a:cs typeface="Hiragino Sans GB"/>
              </a:rPr>
              <a:t>光线追踪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3081528"/>
            <a:ext cx="1426463" cy="73152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AA3AE"/>
                </a:solidFill>
                <a:latin typeface="Helvetica Neue"/>
                <a:ea typeface="Hiragino Sans GB"/>
                <a:cs typeface="Hiragino Sans GB"/>
              </a:rPr>
              <a:t>实时呈现电影级、物理精确的光影。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560320" y="1783080"/>
            <a:ext cx="1828799" cy="2103120"/>
          </a:xfrm>
          <a:prstGeom prst="roundRect">
            <a:avLst>
              <a:gd name="adj" fmla="val 8000"/>
            </a:avLst>
          </a:prstGeom>
          <a:solidFill>
            <a:srgbClr val="121418"/>
          </a:solidFill>
          <a:ln w="13970">
            <a:solidFill>
              <a:srgbClr val="3238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13" name="Round Same Side Corner Rectangle 12"/>
          <p:cNvSpPr/>
          <p:nvPr/>
        </p:nvSpPr>
        <p:spPr>
          <a:xfrm>
            <a:off x="2560320" y="1783080"/>
            <a:ext cx="1828799" cy="54864"/>
          </a:xfrm>
          <a:prstGeom prst="round2SameRect">
            <a:avLst>
              <a:gd name="adj1" fmla="val 8000"/>
              <a:gd name="adj2" fmla="val 0"/>
            </a:avLst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pic>
        <p:nvPicPr>
          <p:cNvPr id="14" name="Picture 13" descr="s_ai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61488" y="2057400"/>
            <a:ext cx="365760" cy="3657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2761488" y="2624328"/>
            <a:ext cx="1426463" cy="45720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Helvetica Neue"/>
                <a:ea typeface="Hiragino Sans GB"/>
                <a:cs typeface="Hiragino Sans GB"/>
              </a:rPr>
              <a:t>DLSS AI 渲染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61488" y="3081528"/>
            <a:ext cx="1426463" cy="73152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AA3AE"/>
                </a:solidFill>
                <a:latin typeface="Helvetica Neue"/>
                <a:ea typeface="Hiragino Sans GB"/>
                <a:cs typeface="Hiragino Sans GB"/>
              </a:rPr>
              <a:t>神经渲染让帧率成倍提升。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754880" y="1783080"/>
            <a:ext cx="1828799" cy="2103120"/>
          </a:xfrm>
          <a:prstGeom prst="roundRect">
            <a:avLst>
              <a:gd name="adj" fmla="val 8000"/>
            </a:avLst>
          </a:prstGeom>
          <a:solidFill>
            <a:srgbClr val="121418"/>
          </a:solidFill>
          <a:ln w="13970">
            <a:solidFill>
              <a:srgbClr val="3238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18" name="Round Same Side Corner Rectangle 17"/>
          <p:cNvSpPr/>
          <p:nvPr/>
        </p:nvSpPr>
        <p:spPr>
          <a:xfrm>
            <a:off x="4754880" y="1783080"/>
            <a:ext cx="1828799" cy="54864"/>
          </a:xfrm>
          <a:prstGeom prst="round2SameRect">
            <a:avLst>
              <a:gd name="adj1" fmla="val 8000"/>
              <a:gd name="adj2" fmla="val 0"/>
            </a:avLst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pic>
        <p:nvPicPr>
          <p:cNvPr id="19" name="Picture 18" descr="i_layer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56048" y="2057400"/>
            <a:ext cx="365760" cy="36576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4956048" y="2624328"/>
            <a:ext cx="1426463" cy="45720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Helvetica Neue"/>
                <a:ea typeface="Hiragino Sans GB"/>
                <a:cs typeface="Hiragino Sans GB"/>
              </a:rPr>
              <a:t>同一套架构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56048" y="3081528"/>
            <a:ext cx="1426463" cy="73152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AA3AE"/>
                </a:solidFill>
                <a:latin typeface="Helvetica Neue"/>
                <a:ea typeface="Hiragino Sans GB"/>
                <a:cs typeface="Hiragino Sans GB"/>
              </a:rPr>
              <a:t>与数据中心同源的 Blackwell 架构。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949440" y="1783080"/>
            <a:ext cx="1828799" cy="2103120"/>
          </a:xfrm>
          <a:prstGeom prst="roundRect">
            <a:avLst>
              <a:gd name="adj" fmla="val 8000"/>
            </a:avLst>
          </a:prstGeom>
          <a:solidFill>
            <a:srgbClr val="121418"/>
          </a:solidFill>
          <a:ln w="13970">
            <a:solidFill>
              <a:srgbClr val="3238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23" name="Round Same Side Corner Rectangle 22"/>
          <p:cNvSpPr/>
          <p:nvPr/>
        </p:nvSpPr>
        <p:spPr>
          <a:xfrm>
            <a:off x="6949440" y="1783080"/>
            <a:ext cx="1828799" cy="54864"/>
          </a:xfrm>
          <a:prstGeom prst="round2SameRect">
            <a:avLst>
              <a:gd name="adj1" fmla="val 8000"/>
              <a:gd name="adj2" fmla="val 0"/>
            </a:avLst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pic>
        <p:nvPicPr>
          <p:cNvPr id="24" name="Picture 23" descr="i_clou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50607" y="2057400"/>
            <a:ext cx="365760" cy="36576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150607" y="2624328"/>
            <a:ext cx="1426463" cy="45720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Helvetica Neue"/>
                <a:ea typeface="Hiragino Sans GB"/>
                <a:cs typeface="Hiragino Sans GB"/>
              </a:rPr>
              <a:t>GeForce NOW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50607" y="3081528"/>
            <a:ext cx="1426463" cy="73152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AA3AE"/>
                </a:solidFill>
                <a:latin typeface="Helvetica Neue"/>
                <a:ea typeface="Hiragino Sans GB"/>
                <a:cs typeface="Hiragino Sans GB"/>
              </a:rPr>
              <a:t>把整台主机从云端串流到任意设备。</a:t>
            </a:r>
          </a:p>
        </p:txBody>
      </p:sp>
      <p:pic>
        <p:nvPicPr>
          <p:cNvPr id="27" name="Picture 26" descr="nvidia_logo_dark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9112" y="4846320"/>
            <a:ext cx="785439" cy="14356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7955279" y="4846320"/>
            <a:ext cx="731520" cy="18288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AA3AE"/>
                </a:solidFill>
                <a:latin typeface="Helvetica Neue"/>
                <a:ea typeface="Hiragino Sans GB"/>
                <a:cs typeface="Hiragino Sans GB"/>
              </a:rPr>
              <a:t>11 / 16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content.png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>
            <a:gsLst>
              <a:gs pos="0">
                <a:srgbClr val="0A0B0D">
                  <a:alpha val="34000"/>
                </a:srgbClr>
              </a:gs>
              <a:gs pos="100000">
                <a:srgbClr val="0A0B0D">
                  <a:alpha val="34000"/>
                </a:srgbClr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20624"/>
            <a:ext cx="8229600" cy="27432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76B900"/>
                </a:solidFill>
                <a:latin typeface="Helvetica Neue"/>
                <a:ea typeface="Hiragino Sans GB"/>
                <a:cs typeface="Hiragino Sans GB"/>
              </a:rPr>
              <a:t>仿真 · 数字孪生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8412480" cy="64008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Helvetica Neue"/>
                <a:ea typeface="Hiragino Sans GB"/>
                <a:cs typeface="Hiragino Sans GB"/>
              </a:rPr>
              <a:t>Omniverse，物理 AI 的操作系统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280160"/>
            <a:ext cx="1005840" cy="45720"/>
          </a:xfrm>
          <a:prstGeom prst="rect">
            <a:avLst/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481328"/>
            <a:ext cx="7955279" cy="45720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C8CDD4"/>
                </a:solidFill>
                <a:latin typeface="Helvetica Neue"/>
                <a:ea typeface="Hiragino Sans GB"/>
                <a:cs typeface="Hiragino Sans GB"/>
              </a:rPr>
              <a:t>在 OpenUSD 上构建物理精确的 3D 数字孪生，先在仿真里测试真实世界。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2057400"/>
            <a:ext cx="4023359" cy="1371600"/>
          </a:xfrm>
          <a:prstGeom prst="roundRect">
            <a:avLst>
              <a:gd name="adj" fmla="val 8000"/>
            </a:avLst>
          </a:prstGeom>
          <a:solidFill>
            <a:srgbClr val="121418"/>
          </a:solidFill>
          <a:ln w="13970">
            <a:solidFill>
              <a:srgbClr val="3238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65760" y="2057400"/>
            <a:ext cx="54864" cy="1371600"/>
          </a:xfrm>
          <a:prstGeom prst="roundRect">
            <a:avLst>
              <a:gd name="adj" fmla="val 8000"/>
            </a:avLst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3504" y="2258568"/>
            <a:ext cx="1828800" cy="54864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76B900"/>
                </a:solidFill>
                <a:latin typeface="Helvetica Neue"/>
                <a:ea typeface="Hiragino Sans GB"/>
                <a:cs typeface="Hiragino Sans GB"/>
              </a:rPr>
              <a:t>约 30%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" y="2862072"/>
            <a:ext cx="3566159" cy="50292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C8CDD4"/>
                </a:solidFill>
                <a:latin typeface="Helvetica Neue"/>
                <a:ea typeface="Hiragino Sans GB"/>
                <a:cs typeface="Hiragino Sans GB"/>
              </a:rPr>
              <a:t>更低的工厂规划成本，宝马已在虚拟环境中验证了整座工厂。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754880" y="2057400"/>
            <a:ext cx="4023359" cy="1371600"/>
          </a:xfrm>
          <a:prstGeom prst="roundRect">
            <a:avLst>
              <a:gd name="adj" fmla="val 8000"/>
            </a:avLst>
          </a:prstGeom>
          <a:solidFill>
            <a:srgbClr val="121418"/>
          </a:solidFill>
          <a:ln w="13970">
            <a:solidFill>
              <a:srgbClr val="3238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754880" y="2057400"/>
            <a:ext cx="54864" cy="1371600"/>
          </a:xfrm>
          <a:prstGeom prst="roundRect">
            <a:avLst>
              <a:gd name="adj" fmla="val 8000"/>
            </a:avLst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92624" y="2258568"/>
            <a:ext cx="1828800" cy="54864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76B900"/>
                </a:solidFill>
                <a:latin typeface="Helvetica Neue"/>
                <a:ea typeface="Hiragino Sans GB"/>
                <a:cs typeface="Hiragino Sans GB"/>
              </a:rPr>
              <a:t>约 1,000×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92624" y="2862072"/>
            <a:ext cx="3566159" cy="50292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C8CDD4"/>
                </a:solidFill>
                <a:latin typeface="Helvetica Neue"/>
                <a:ea typeface="Hiragino Sans GB"/>
                <a:cs typeface="Hiragino Sans GB"/>
              </a:rPr>
              <a:t>用 Earth-2 让预测提速千倍，能效还高约 3,000 倍。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977639"/>
            <a:ext cx="1463040" cy="292608"/>
          </a:xfrm>
          <a:prstGeom prst="roundRect">
            <a:avLst>
              <a:gd name="adj" fmla="val 8000"/>
            </a:avLst>
          </a:prstGeom>
          <a:solidFill>
            <a:srgbClr val="1A1D22"/>
          </a:solidFill>
          <a:ln w="10160">
            <a:solidFill>
              <a:srgbClr val="3238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977639"/>
            <a:ext cx="1463040" cy="292608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C8CDD4"/>
                </a:solidFill>
                <a:latin typeface="Helvetica Neue"/>
                <a:ea typeface="Hiragino Sans GB"/>
                <a:cs typeface="Hiragino Sans GB"/>
              </a:rPr>
              <a:t>BMW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231136" y="3977639"/>
            <a:ext cx="1463040" cy="292608"/>
          </a:xfrm>
          <a:prstGeom prst="roundRect">
            <a:avLst>
              <a:gd name="adj" fmla="val 8000"/>
            </a:avLst>
          </a:prstGeom>
          <a:solidFill>
            <a:srgbClr val="1A1D22"/>
          </a:solidFill>
          <a:ln w="10160">
            <a:solidFill>
              <a:srgbClr val="3238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231136" y="3977639"/>
            <a:ext cx="1463040" cy="292608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C8CDD4"/>
                </a:solidFill>
                <a:latin typeface="Helvetica Neue"/>
                <a:ea typeface="Hiragino Sans GB"/>
                <a:cs typeface="Hiragino Sans GB"/>
              </a:rPr>
              <a:t>Mercedes-Benz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822191" y="3977639"/>
            <a:ext cx="1463040" cy="292608"/>
          </a:xfrm>
          <a:prstGeom prst="roundRect">
            <a:avLst>
              <a:gd name="adj" fmla="val 8000"/>
            </a:avLst>
          </a:prstGeom>
          <a:solidFill>
            <a:srgbClr val="1A1D22"/>
          </a:solidFill>
          <a:ln w="10160">
            <a:solidFill>
              <a:srgbClr val="3238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822191" y="3977639"/>
            <a:ext cx="1463040" cy="292608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C8CDD4"/>
                </a:solidFill>
                <a:latin typeface="Helvetica Neue"/>
                <a:ea typeface="Hiragino Sans GB"/>
                <a:cs typeface="Hiragino Sans GB"/>
              </a:rPr>
              <a:t>Siemens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13248" y="3977639"/>
            <a:ext cx="1463040" cy="292608"/>
          </a:xfrm>
          <a:prstGeom prst="roundRect">
            <a:avLst>
              <a:gd name="adj" fmla="val 8000"/>
            </a:avLst>
          </a:prstGeom>
          <a:solidFill>
            <a:srgbClr val="1A1D22"/>
          </a:solidFill>
          <a:ln w="10160">
            <a:solidFill>
              <a:srgbClr val="3238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13248" y="3977639"/>
            <a:ext cx="1463040" cy="292608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C8CDD4"/>
                </a:solidFill>
                <a:latin typeface="Helvetica Neue"/>
                <a:ea typeface="Hiragino Sans GB"/>
                <a:cs typeface="Hiragino Sans GB"/>
              </a:rPr>
              <a:t>Ansys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004304" y="3977639"/>
            <a:ext cx="1463040" cy="292608"/>
          </a:xfrm>
          <a:prstGeom prst="roundRect">
            <a:avLst>
              <a:gd name="adj" fmla="val 8000"/>
            </a:avLst>
          </a:prstGeom>
          <a:solidFill>
            <a:srgbClr val="1A1D22"/>
          </a:solidFill>
          <a:ln w="10160">
            <a:solidFill>
              <a:srgbClr val="3238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004304" y="3977639"/>
            <a:ext cx="1463040" cy="292608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C8CDD4"/>
                </a:solidFill>
                <a:latin typeface="Helvetica Neue"/>
                <a:ea typeface="Hiragino Sans GB"/>
                <a:cs typeface="Hiragino Sans GB"/>
              </a:rPr>
              <a:t>Foxconn</a:t>
            </a:r>
          </a:p>
        </p:txBody>
      </p:sp>
      <p:pic>
        <p:nvPicPr>
          <p:cNvPr id="26" name="Picture 25" descr="nvidia_logo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9112" y="4846320"/>
            <a:ext cx="785439" cy="14356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955279" y="4846320"/>
            <a:ext cx="731520" cy="18288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AA3AE"/>
                </a:solidFill>
                <a:latin typeface="Helvetica Neue"/>
                <a:ea typeface="Hiragino Sans GB"/>
                <a:cs typeface="Hiragino Sans GB"/>
              </a:rPr>
              <a:t>12 / 16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content.png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>
            <a:gsLst>
              <a:gs pos="0">
                <a:srgbClr val="0A0B0D">
                  <a:alpha val="34000"/>
                </a:srgbClr>
              </a:gs>
              <a:gs pos="100000">
                <a:srgbClr val="0A0B0D">
                  <a:alpha val="34000"/>
                </a:srgbClr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20624"/>
            <a:ext cx="8229600" cy="27432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76B900"/>
                </a:solidFill>
                <a:latin typeface="Helvetica Neue"/>
                <a:ea typeface="Hiragino Sans GB"/>
                <a:cs typeface="Hiragino Sans GB"/>
              </a:rPr>
              <a:t>物理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8412480" cy="64008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Helvetica Neue"/>
                <a:ea typeface="Hiragino Sans GB"/>
                <a:cs typeface="Hiragino Sans GB"/>
              </a:rPr>
              <a:t>从汽车到机器人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280160"/>
            <a:ext cx="1005840" cy="45720"/>
          </a:xfrm>
          <a:prstGeom prst="rect">
            <a:avLst/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5760" y="1737360"/>
            <a:ext cx="4023359" cy="2514600"/>
          </a:xfrm>
          <a:prstGeom prst="roundRect">
            <a:avLst>
              <a:gd name="adj" fmla="val 8000"/>
            </a:avLst>
          </a:prstGeom>
          <a:solidFill>
            <a:srgbClr val="121418"/>
          </a:solidFill>
          <a:ln w="13970">
            <a:solidFill>
              <a:srgbClr val="3238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8" name="Round Same Side Corner Rectangle 7"/>
          <p:cNvSpPr/>
          <p:nvPr/>
        </p:nvSpPr>
        <p:spPr>
          <a:xfrm>
            <a:off x="365760" y="1737360"/>
            <a:ext cx="4023359" cy="54864"/>
          </a:xfrm>
          <a:prstGeom prst="round2SameRect">
            <a:avLst>
              <a:gd name="adj1" fmla="val 8000"/>
              <a:gd name="adj2" fmla="val 0"/>
            </a:avLst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pic>
        <p:nvPicPr>
          <p:cNvPr id="9" name="Picture 8" descr="i_c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048255"/>
            <a:ext cx="420624" cy="4206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280160" y="2103120"/>
            <a:ext cx="2926079" cy="45720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Helvetica Neue"/>
                <a:ea typeface="Hiragino Sans GB"/>
                <a:cs typeface="Hiragino Sans GB"/>
              </a:rPr>
              <a:t>自动驾驶汽车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788920"/>
            <a:ext cx="3474719" cy="91440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C8CDD4"/>
                </a:solidFill>
                <a:latin typeface="Helvetica Neue"/>
                <a:ea typeface="Hiragino Sans GB"/>
                <a:cs typeface="Hiragino Sans GB"/>
              </a:rPr>
              <a:t>DRIVE AGX Thor 加 Hyperion 驱动 BYD、Mercedes-Benz、Lucid 和 JLR，还与 Uber 合力推进全球 robotaxi。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730752"/>
            <a:ext cx="365760" cy="20116"/>
          </a:xfrm>
          <a:prstGeom prst="rect">
            <a:avLst/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858768"/>
            <a:ext cx="3474719" cy="36576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AA3AE"/>
                </a:solidFill>
                <a:latin typeface="Helvetica Neue"/>
                <a:ea typeface="Hiragino Sans GB"/>
                <a:cs typeface="Hiragino Sans GB"/>
              </a:rPr>
              <a:t>BYD  ·  Mercedes-Benz  ·  Lucid  ·  Uber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754880" y="1737360"/>
            <a:ext cx="4023359" cy="2514600"/>
          </a:xfrm>
          <a:prstGeom prst="roundRect">
            <a:avLst>
              <a:gd name="adj" fmla="val 8000"/>
            </a:avLst>
          </a:prstGeom>
          <a:solidFill>
            <a:srgbClr val="121418"/>
          </a:solidFill>
          <a:ln w="13970">
            <a:solidFill>
              <a:srgbClr val="3238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15" name="Round Same Side Corner Rectangle 14"/>
          <p:cNvSpPr/>
          <p:nvPr/>
        </p:nvSpPr>
        <p:spPr>
          <a:xfrm>
            <a:off x="4754880" y="1737360"/>
            <a:ext cx="4023359" cy="54864"/>
          </a:xfrm>
          <a:prstGeom prst="round2SameRect">
            <a:avLst>
              <a:gd name="adj1" fmla="val 8000"/>
              <a:gd name="adj2" fmla="val 0"/>
            </a:avLst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pic>
        <p:nvPicPr>
          <p:cNvPr id="16" name="Picture 15" descr="s_robo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0" y="2048255"/>
            <a:ext cx="420624" cy="42062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669280" y="2103120"/>
            <a:ext cx="2926079" cy="45720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Helvetica Neue"/>
                <a:ea typeface="Hiragino Sans GB"/>
                <a:cs typeface="Hiragino Sans GB"/>
              </a:rPr>
              <a:t>机器人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0" y="2788920"/>
            <a:ext cx="3840479" cy="91440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C8CDD4"/>
                </a:solidFill>
                <a:latin typeface="Helvetica Neue"/>
                <a:ea typeface="Hiragino Sans GB"/>
                <a:cs typeface="Hiragino Sans GB"/>
              </a:rPr>
              <a:t>Jetson Thor 加 Isaac 加开放的 GR00T 人形模型，驱动 Boston Dynamics、Figure 和工厂机器人。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0" y="3730752"/>
            <a:ext cx="365760" cy="20116"/>
          </a:xfrm>
          <a:prstGeom prst="rect">
            <a:avLst/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0" y="3858768"/>
            <a:ext cx="3474719" cy="36576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AA3AE"/>
                </a:solidFill>
                <a:latin typeface="Helvetica Neue"/>
                <a:ea typeface="Hiragino Sans GB"/>
                <a:cs typeface="Hiragino Sans GB"/>
              </a:rPr>
              <a:t>Boston Dynamics  ·  Figure  ·  ABB  ·  FANUC</a:t>
            </a:r>
          </a:p>
        </p:txBody>
      </p:sp>
      <p:pic>
        <p:nvPicPr>
          <p:cNvPr id="21" name="Picture 20" descr="nvidia_logo_dar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9112" y="4846320"/>
            <a:ext cx="785439" cy="14356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7955279" y="4846320"/>
            <a:ext cx="731520" cy="18288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AA3AE"/>
                </a:solidFill>
                <a:latin typeface="Helvetica Neue"/>
                <a:ea typeface="Hiragino Sans GB"/>
                <a:cs typeface="Hiragino Sans GB"/>
              </a:rPr>
              <a:t>13 / 16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content.png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>
            <a:gsLst>
              <a:gs pos="0">
                <a:srgbClr val="0A0B0D">
                  <a:alpha val="34000"/>
                </a:srgbClr>
              </a:gs>
              <a:gs pos="100000">
                <a:srgbClr val="0A0B0D">
                  <a:alpha val="34000"/>
                </a:srgbClr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20624"/>
            <a:ext cx="8229600" cy="27432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76B900"/>
                </a:solidFill>
                <a:latin typeface="Helvetica Neue"/>
                <a:ea typeface="Hiragino Sans GB"/>
                <a:cs typeface="Hiragino Sans GB"/>
              </a:rPr>
              <a:t>价值所在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8412480" cy="64008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Helvetica Neue"/>
                <a:ea typeface="Hiragino Sans GB"/>
                <a:cs typeface="Hiragino Sans GB"/>
              </a:rPr>
              <a:t>客户为什么选 NVIDIA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280160"/>
            <a:ext cx="1005840" cy="45720"/>
          </a:xfrm>
          <a:prstGeom prst="rect">
            <a:avLst/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1737360"/>
            <a:ext cx="8229600" cy="676656"/>
          </a:xfrm>
          <a:prstGeom prst="roundRect">
            <a:avLst>
              <a:gd name="adj" fmla="val 8000"/>
            </a:avLst>
          </a:prstGeom>
          <a:solidFill>
            <a:srgbClr val="121418"/>
          </a:solidFill>
          <a:ln w="12700">
            <a:solidFill>
              <a:srgbClr val="3238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0080" y="1737360"/>
            <a:ext cx="45720" cy="676656"/>
          </a:xfrm>
          <a:prstGeom prst="roundRect">
            <a:avLst>
              <a:gd name="adj" fmla="val 8000"/>
            </a:avLst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pic>
        <p:nvPicPr>
          <p:cNvPr id="9" name="Picture 8" descr="i_lay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1911095"/>
            <a:ext cx="329184" cy="3291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481328" y="1737360"/>
            <a:ext cx="2468880" cy="676656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Helvetica Neue"/>
                <a:ea typeface="Hiragino Sans GB"/>
                <a:cs typeface="Hiragino Sans GB"/>
              </a:rPr>
              <a:t>一个全栈平台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0" y="1737360"/>
            <a:ext cx="4572000" cy="676656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8CDD4"/>
                </a:solidFill>
                <a:latin typeface="Helvetica Neue"/>
                <a:ea typeface="Hiragino Sans GB"/>
                <a:cs typeface="Hiragino Sans GB"/>
              </a:rPr>
              <a:t>芯片、系统、网络与软件，经过验证能协同运转。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487168"/>
            <a:ext cx="8229600" cy="676656"/>
          </a:xfrm>
          <a:prstGeom prst="roundRect">
            <a:avLst>
              <a:gd name="adj" fmla="val 8000"/>
            </a:avLst>
          </a:prstGeom>
          <a:solidFill>
            <a:srgbClr val="121418"/>
          </a:solidFill>
          <a:ln w="12700">
            <a:solidFill>
              <a:srgbClr val="3238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0080" y="2487168"/>
            <a:ext cx="45720" cy="676656"/>
          </a:xfrm>
          <a:prstGeom prst="roundRect">
            <a:avLst>
              <a:gd name="adj" fmla="val 8000"/>
            </a:avLst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pic>
        <p:nvPicPr>
          <p:cNvPr id="14" name="Picture 13" descr="i_sca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2660903"/>
            <a:ext cx="329184" cy="32918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481328" y="2487168"/>
            <a:ext cx="2468880" cy="676656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Helvetica Neue"/>
                <a:ea typeface="Hiragino Sans GB"/>
                <a:cs typeface="Hiragino Sans GB"/>
              </a:rPr>
              <a:t>处处可扩展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0" y="2487168"/>
            <a:ext cx="4572000" cy="676656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8CDD4"/>
                </a:solidFill>
                <a:latin typeface="Helvetica Neue"/>
                <a:ea typeface="Hiragino Sans GB"/>
                <a:cs typeface="Hiragino Sans GB"/>
              </a:rPr>
              <a:t>从一台游戏笔记本，到一座机架级 AI 工厂。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236975"/>
            <a:ext cx="8229600" cy="676656"/>
          </a:xfrm>
          <a:prstGeom prst="roundRect">
            <a:avLst>
              <a:gd name="adj" fmla="val 8000"/>
            </a:avLst>
          </a:prstGeom>
          <a:solidFill>
            <a:srgbClr val="121418"/>
          </a:solidFill>
          <a:ln w="12700">
            <a:solidFill>
              <a:srgbClr val="3238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40080" y="3236975"/>
            <a:ext cx="45720" cy="676656"/>
          </a:xfrm>
          <a:prstGeom prst="roundRect">
            <a:avLst>
              <a:gd name="adj" fmla="val 8000"/>
            </a:avLst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pic>
        <p:nvPicPr>
          <p:cNvPr id="19" name="Picture 18" descr="i_networ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" y="3410711"/>
            <a:ext cx="329184" cy="32918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481328" y="3236975"/>
            <a:ext cx="2468880" cy="676656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Helvetica Neue"/>
                <a:ea typeface="Hiragino Sans GB"/>
                <a:cs typeface="Hiragino Sans GB"/>
              </a:rPr>
              <a:t>最大的生态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0" y="3236975"/>
            <a:ext cx="4572000" cy="676656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8CDD4"/>
                </a:solidFill>
                <a:latin typeface="Helvetica Neue"/>
                <a:ea typeface="Hiragino Sans GB"/>
                <a:cs typeface="Hiragino Sans GB"/>
              </a:rPr>
              <a:t>约 600 万开发者，以及业界最深的软件栈。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3986783"/>
            <a:ext cx="8229600" cy="676656"/>
          </a:xfrm>
          <a:prstGeom prst="roundRect">
            <a:avLst>
              <a:gd name="adj" fmla="val 8000"/>
            </a:avLst>
          </a:prstGeom>
          <a:solidFill>
            <a:srgbClr val="121418"/>
          </a:solidFill>
          <a:ln w="12700">
            <a:solidFill>
              <a:srgbClr val="3238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40080" y="3986783"/>
            <a:ext cx="45720" cy="676656"/>
          </a:xfrm>
          <a:prstGeom prst="roundRect">
            <a:avLst>
              <a:gd name="adj" fmla="val 8000"/>
            </a:avLst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pic>
        <p:nvPicPr>
          <p:cNvPr id="24" name="Picture 23" descr="i_shiel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4400" y="4160520"/>
            <a:ext cx="329184" cy="329184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1481328" y="3986783"/>
            <a:ext cx="2468880" cy="676656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Helvetica Neue"/>
                <a:ea typeface="Hiragino Sans GB"/>
                <a:cs typeface="Hiragino Sans GB"/>
              </a:rPr>
              <a:t>规模化验证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14800" y="3986783"/>
            <a:ext cx="4572000" cy="676656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8CDD4"/>
                </a:solidFill>
                <a:latin typeface="Helvetica Neue"/>
                <a:ea typeface="Hiragino Sans GB"/>
                <a:cs typeface="Hiragino Sans GB"/>
              </a:rPr>
              <a:t>全世界领先的 AI，已经建在这个平台上。</a:t>
            </a:r>
          </a:p>
        </p:txBody>
      </p:sp>
      <p:pic>
        <p:nvPicPr>
          <p:cNvPr id="27" name="Picture 26" descr="nvidia_logo_dark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9112" y="4846320"/>
            <a:ext cx="785439" cy="14356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7955279" y="4846320"/>
            <a:ext cx="731520" cy="18288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AA3AE"/>
                </a:solidFill>
                <a:latin typeface="Helvetica Neue"/>
                <a:ea typeface="Hiragino Sans GB"/>
                <a:cs typeface="Hiragino Sans GB"/>
              </a:rPr>
              <a:t>14 / 16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content.png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>
            <a:gsLst>
              <a:gs pos="0">
                <a:srgbClr val="0A0B0D">
                  <a:alpha val="34000"/>
                </a:srgbClr>
              </a:gs>
              <a:gs pos="100000">
                <a:srgbClr val="0A0B0D">
                  <a:alpha val="34000"/>
                </a:srgbClr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20624"/>
            <a:ext cx="8229600" cy="27432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76B900"/>
                </a:solidFill>
                <a:latin typeface="Helvetica Neue"/>
                <a:ea typeface="Hiragino Sans GB"/>
                <a:cs typeface="Hiragino Sans GB"/>
              </a:rPr>
              <a:t>增长曲线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8412480" cy="64008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Helvetica Neue"/>
                <a:ea typeface="Hiragino Sans GB"/>
                <a:cs typeface="Hiragino Sans GB"/>
              </a:rPr>
              <a:t>增长之上再增长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280160"/>
            <a:ext cx="1005840" cy="45720"/>
          </a:xfrm>
          <a:prstGeom prst="rect">
            <a:avLst/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463040"/>
            <a:ext cx="8046720" cy="36576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AA3AE"/>
                </a:solidFill>
                <a:latin typeface="Helvetica Neue"/>
                <a:ea typeface="Hiragino Sans GB"/>
                <a:cs typeface="Hiragino Sans GB"/>
              </a:rPr>
              <a:t>按财年（每年 1 月底结束）划分的营收，且截至 2026 年已锁定 ≥ $500B 的 Blackwell 加 Rubin 订单。</a:t>
            </a:r>
          </a:p>
        </p:txBody>
      </p:sp>
      <p:sp>
        <p:nvSpPr>
          <p:cNvPr id="8" name="Round Same Side Corner Rectangle 7"/>
          <p:cNvSpPr/>
          <p:nvPr/>
        </p:nvSpPr>
        <p:spPr>
          <a:xfrm>
            <a:off x="1828800" y="3657557"/>
            <a:ext cx="1280160" cy="502962"/>
          </a:xfrm>
          <a:prstGeom prst="round2SameRect">
            <a:avLst>
              <a:gd name="adj1" fmla="val 8000"/>
              <a:gd name="adj2" fmla="val 0"/>
            </a:avLst>
          </a:prstGeom>
          <a:solidFill>
            <a:srgbClr val="121418"/>
          </a:solidFill>
          <a:ln w="12700">
            <a:solidFill>
              <a:srgbClr val="3238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554480" y="3346661"/>
            <a:ext cx="1828800" cy="27432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Helvetica Neue"/>
                <a:ea typeface="Hiragino Sans GB"/>
                <a:cs typeface="Hiragino Sans GB"/>
              </a:rPr>
              <a:t>$60.9B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4233672"/>
            <a:ext cx="1828800" cy="27432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9AA3AE"/>
                </a:solidFill>
                <a:latin typeface="Helvetica Neue"/>
                <a:ea typeface="Hiragino Sans GB"/>
                <a:cs typeface="Hiragino Sans GB"/>
              </a:rPr>
              <a:t>2024 财年</a:t>
            </a:r>
          </a:p>
        </p:txBody>
      </p:sp>
      <p:sp>
        <p:nvSpPr>
          <p:cNvPr id="11" name="Round Same Side Corner Rectangle 10"/>
          <p:cNvSpPr/>
          <p:nvPr/>
        </p:nvSpPr>
        <p:spPr>
          <a:xfrm>
            <a:off x="3931920" y="3082743"/>
            <a:ext cx="1280160" cy="1077776"/>
          </a:xfrm>
          <a:prstGeom prst="round2SameRect">
            <a:avLst>
              <a:gd name="adj1" fmla="val 8000"/>
              <a:gd name="adj2" fmla="val 0"/>
            </a:avLst>
          </a:prstGeom>
          <a:solidFill>
            <a:srgbClr val="323840"/>
          </a:solidFill>
          <a:ln w="12700">
            <a:solidFill>
              <a:srgbClr val="3238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0" y="2771847"/>
            <a:ext cx="1828800" cy="27432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Helvetica Neue"/>
                <a:ea typeface="Hiragino Sans GB"/>
                <a:cs typeface="Hiragino Sans GB"/>
              </a:rPr>
              <a:t>$130.5B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0" y="4233672"/>
            <a:ext cx="1828800" cy="27432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9AA3AE"/>
                </a:solidFill>
                <a:latin typeface="Helvetica Neue"/>
                <a:ea typeface="Hiragino Sans GB"/>
                <a:cs typeface="Hiragino Sans GB"/>
              </a:rPr>
              <a:t>2025 财年</a:t>
            </a:r>
          </a:p>
        </p:txBody>
      </p:sp>
      <p:sp>
        <p:nvSpPr>
          <p:cNvPr id="14" name="Round Same Side Corner Rectangle 13"/>
          <p:cNvSpPr/>
          <p:nvPr/>
        </p:nvSpPr>
        <p:spPr>
          <a:xfrm>
            <a:off x="6035040" y="2377440"/>
            <a:ext cx="1280160" cy="1783079"/>
          </a:xfrm>
          <a:prstGeom prst="round2SameRect">
            <a:avLst>
              <a:gd name="adj1" fmla="val 8000"/>
              <a:gd name="adj2" fmla="val 0"/>
            </a:avLst>
          </a:prstGeom>
          <a:solidFill>
            <a:srgbClr val="76B900"/>
          </a:solidFill>
          <a:ln w="12700">
            <a:solidFill>
              <a:srgbClr val="76B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60720" y="2066544"/>
            <a:ext cx="1828800" cy="27432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76B900"/>
                </a:solidFill>
                <a:latin typeface="Helvetica Neue"/>
                <a:ea typeface="Hiragino Sans GB"/>
                <a:cs typeface="Hiragino Sans GB"/>
              </a:rPr>
              <a:t>$215.9B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60720" y="4233672"/>
            <a:ext cx="1828800" cy="27432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9AA3AE"/>
                </a:solidFill>
                <a:latin typeface="Helvetica Neue"/>
                <a:ea typeface="Hiragino Sans GB"/>
                <a:cs typeface="Hiragino Sans GB"/>
              </a:rPr>
              <a:t>2026 财年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645920" y="4160520"/>
            <a:ext cx="6035040" cy="12801"/>
          </a:xfrm>
          <a:prstGeom prst="rect">
            <a:avLst/>
          </a:prstGeom>
          <a:solidFill>
            <a:srgbClr val="323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pic>
        <p:nvPicPr>
          <p:cNvPr id="18" name="Picture 17" descr="nvidia_logo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9112" y="4846320"/>
            <a:ext cx="785439" cy="14356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955279" y="4846320"/>
            <a:ext cx="731520" cy="18288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AA3AE"/>
                </a:solidFill>
                <a:latin typeface="Helvetica Neue"/>
                <a:ea typeface="Hiragino Sans GB"/>
                <a:cs typeface="Hiragino Sans GB"/>
              </a:rPr>
              <a:t>15 / 16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ero.png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5577840" cy="5143500"/>
          </a:xfrm>
          <a:prstGeom prst="rect">
            <a:avLst/>
          </a:prstGeom>
          <a:gradFill>
            <a:gsLst>
              <a:gs pos="0">
                <a:srgbClr val="0A0B0D">
                  <a:alpha val="88000"/>
                </a:srgbClr>
              </a:gs>
              <a:gs pos="100000">
                <a:srgbClr val="0A0B0D">
                  <a:alpha val="10000"/>
                </a:srgbClr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94944" y="1097280"/>
            <a:ext cx="4572000" cy="27432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76B900"/>
                </a:solidFill>
                <a:latin typeface="Helvetica Neue"/>
                <a:ea typeface="Hiragino Sans GB"/>
                <a:cs typeface="Hiragino Sans GB"/>
              </a:rPr>
              <a:t>开始上手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417320"/>
            <a:ext cx="4754880" cy="64008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Helvetica Neue"/>
                <a:ea typeface="Hiragino Sans GB"/>
                <a:cs typeface="Hiragino Sans GB"/>
              </a:rPr>
              <a:t>探索这个平台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088" y="2121408"/>
            <a:ext cx="777240" cy="25603"/>
          </a:xfrm>
          <a:prstGeom prst="rect">
            <a:avLst/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pic>
        <p:nvPicPr>
          <p:cNvPr id="7" name="Picture 6" descr="i_arr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088" y="2350008"/>
            <a:ext cx="182880" cy="1828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87552" y="2304288"/>
            <a:ext cx="3657600" cy="256032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Helvetica Neue"/>
                <a:ea typeface="Hiragino Sans GB"/>
                <a:cs typeface="Hiragino Sans GB"/>
              </a:rPr>
              <a:t>developer.nvidia.com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7552" y="2551176"/>
            <a:ext cx="3657600" cy="237744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AA3AE"/>
                </a:solidFill>
                <a:latin typeface="Helvetica Neue"/>
                <a:ea typeface="Hiragino Sans GB"/>
                <a:cs typeface="Hiragino Sans GB"/>
              </a:rPr>
              <a:t>CUDA、SDK 与开发者生态</a:t>
            </a:r>
          </a:p>
        </p:txBody>
      </p:sp>
      <p:pic>
        <p:nvPicPr>
          <p:cNvPr id="10" name="Picture 9" descr="i_arr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088" y="2916936"/>
            <a:ext cx="182880" cy="1828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87552" y="2871216"/>
            <a:ext cx="3657600" cy="256032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Helvetica Neue"/>
                <a:ea typeface="Hiragino Sans GB"/>
                <a:cs typeface="Hiragino Sans GB"/>
              </a:rPr>
              <a:t>NVIDIA AI Enterprise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3118104"/>
            <a:ext cx="3657600" cy="237744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AA3AE"/>
                </a:solidFill>
                <a:latin typeface="Helvetica Neue"/>
                <a:ea typeface="Hiragino Sans GB"/>
                <a:cs typeface="Hiragino Sans GB"/>
              </a:rPr>
              <a:t>面向任何企业、可直接投产的 AI</a:t>
            </a:r>
          </a:p>
        </p:txBody>
      </p:sp>
      <p:pic>
        <p:nvPicPr>
          <p:cNvPr id="13" name="Picture 12" descr="i_arr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088" y="3483864"/>
            <a:ext cx="182880" cy="1828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87552" y="3438144"/>
            <a:ext cx="3657600" cy="256032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Helvetica Neue"/>
                <a:ea typeface="Hiragino Sans GB"/>
                <a:cs typeface="Hiragino Sans GB"/>
              </a:rPr>
              <a:t>Omniverse · GeForce · DRIVE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7552" y="3685032"/>
            <a:ext cx="3657600" cy="237744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AA3AE"/>
                </a:solidFill>
                <a:latin typeface="Helvetica Neue"/>
                <a:ea typeface="Hiragino Sans GB"/>
                <a:cs typeface="Hiragino Sans GB"/>
              </a:rPr>
              <a:t>仿真、游戏与自动驾驶</a:t>
            </a:r>
          </a:p>
        </p:txBody>
      </p:sp>
      <p:pic>
        <p:nvPicPr>
          <p:cNvPr id="16" name="Picture 15" descr="nvidia_logo_d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0224" y="4114800"/>
            <a:ext cx="2001118" cy="36576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13232" y="4572000"/>
            <a:ext cx="4572000" cy="27432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76B900"/>
                </a:solidFill>
                <a:latin typeface="Helvetica Neue"/>
                <a:ea typeface="Hiragino Sans GB"/>
                <a:cs typeface="Hiragino Sans GB"/>
              </a:rPr>
              <a:t>AI 时代的引擎。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