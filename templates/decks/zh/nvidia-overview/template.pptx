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9.png"/><Relationship Id="rId7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212080" cy="5143500"/>
          </a:xfrm>
          <a:prstGeom prst="rect">
            <a:avLst/>
          </a:prstGeom>
          <a:gradFill>
            <a:gsLst>
              <a:gs pos="0">
                <a:srgbClr val="0A0B0D">
                  <a:alpha val="78000"/>
                </a:srgbClr>
              </a:gs>
              <a:gs pos="100000">
                <a:srgbClr val="0A0B0D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298448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公司概览      2026</a:t>
            </a:r>
          </a:p>
        </p:txBody>
      </p:sp>
      <p:pic>
        <p:nvPicPr>
          <p:cNvPr id="5" name="Picture 4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756016"/>
            <a:ext cx="2697480" cy="49303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04088" y="2542032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724912"/>
            <a:ext cx="4114800" cy="9144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驱动 AI、图形与 3D 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加速计算平台。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rgbClr val="0A0B0D">
                  <a:alpha val="82000"/>
                </a:srgbClr>
              </a:gs>
              <a:gs pos="100000">
                <a:srgbClr val="0A0B0D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3504" y="1051560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我们是谁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17320"/>
            <a:ext cx="4754880" cy="18288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NVIDIA 打造芯片、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系统、网络与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软件，全世界的 AI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都跑在上面。</a:t>
            </a:r>
            <a:r>
              <a:rPr sz="26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/>
            </a:r>
            <a:r>
              <a:rPr sz="2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3611880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794760"/>
            <a:ext cx="457200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创立于 1993 年 · 黄仁勋掌舵 · AI 时代的全栈平台。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我们的故事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从一颗图形芯片，到 AI 的引擎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23667"/>
            <a:ext cx="7498079" cy="21945"/>
          </a:xfrm>
          <a:prstGeom prst="rect">
            <a:avLst/>
          </a:prstGeom>
          <a:solidFill>
            <a:srgbClr val="32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523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" y="2121408"/>
            <a:ext cx="155448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1993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" y="3035808"/>
            <a:ext cx="155448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公司创立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975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121408"/>
            <a:ext cx="155448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1999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35808"/>
            <a:ext cx="155448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发明 GPU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427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121408"/>
            <a:ext cx="155448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3035808"/>
            <a:ext cx="155448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CUDA 软件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8796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778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2121408"/>
            <a:ext cx="155448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2012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035808"/>
            <a:ext cx="155448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深度学习时代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43315" y="2756916"/>
            <a:ext cx="155448" cy="155448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 w="1778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2121408"/>
            <a:ext cx="155448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2024–26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3035808"/>
            <a:ext cx="155448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AI 工厂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三项发明，GPU、CUDA 和机架级 AI 系统，把 PC 图形变成了现代 AI 的引擎。</a:t>
            </a:r>
          </a:p>
        </p:txBody>
      </p:sp>
      <p:pic>
        <p:nvPicPr>
          <p:cNvPr id="24" name="Picture 23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我们造什么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一个平台，多种引擎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9" name="Picture 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1984248"/>
            <a:ext cx="402336" cy="402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5216" y="2587752"/>
            <a:ext cx="1389887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AI 与数据中心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3209544"/>
            <a:ext cx="1389887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运行全世界 AI 的全栈 GPU 与系统。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56032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4" name="Picture 13" descr="s_g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9776" y="1984248"/>
            <a:ext cx="402336" cy="40233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79776" y="2587752"/>
            <a:ext cx="1572767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GeForce RTX 游戏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9776" y="3209544"/>
            <a:ext cx="1389887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为游戏带来实时光线追踪与 AI 渲染。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75488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9" name="Picture 18" descr="s_om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1984248"/>
            <a:ext cx="402336" cy="40233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74336" y="2587752"/>
            <a:ext cx="1389887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Omniverse 与专业可视化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4336" y="3209544"/>
            <a:ext cx="1389887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物理精确的 3D 仿真与数字孪生。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691640"/>
            <a:ext cx="1828799" cy="23317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949440" y="169164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4" name="Picture 23" descr="s_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896" y="1984248"/>
            <a:ext cx="402336" cy="40233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8896" y="2587752"/>
            <a:ext cx="1389887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机器人与汽车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3209544"/>
            <a:ext cx="1389887" cy="7772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为车辆、机器人与边缘设备提供车载 AI。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用数字说话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规模与地位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2112264"/>
            <a:ext cx="1444751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$215.9B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752344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2026 财年营收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3108960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同比 +65%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98063" y="1993392"/>
            <a:ext cx="1444751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r>
              <a:rPr sz="2400">
                <a:ea typeface="PingFang SC"/>
              </a:rPr>
              <a:t>约</a:t>
            </a:r>
          </a:p>
          <a:p>
            <a:r>
              <a:rPr sz="2400"/>
              <a:t>$4.7T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2752344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市值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3108960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全球第一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92624" y="2112264"/>
            <a:ext cx="1444751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74.9%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01768" y="2752344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毛利率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01768" y="3108960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2027 财年一季度，GAAP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783080"/>
            <a:ext cx="1828799" cy="18288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9440" y="1783080"/>
            <a:ext cx="54864" cy="18288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87183" y="1993392"/>
            <a:ext cx="1444751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r>
              <a:rPr sz="2400">
                <a:ea typeface="PingFang SC"/>
              </a:rPr>
              <a:t>约</a:t>
            </a:r>
          </a:p>
          <a:p>
            <a:r>
              <a:rPr sz="2400">
                <a:ea typeface="PingFang SC"/>
              </a:rPr>
              <a:t>600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96327" y="2752344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CUDA 开发者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6327" y="3108960"/>
            <a:ext cx="1417319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200+ 个国家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08576"/>
            <a:ext cx="78181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营收为 2026 财年（截至 2026 年 1 月 25 日）；毛利率为 2027 财年一季度（2026 年 4 月 26 日）；开发者数据截至 GTC 2025；市值约为 2026 年 6 月（近似值，盘中波动）。</a:t>
            </a:r>
          </a:p>
        </p:txBody>
      </p:sp>
      <p:pic>
        <p:nvPicPr>
          <p:cNvPr id="28" name="Picture 27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数据中心 · 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NVIDIA 造的是 AI 工厂，不只是芯片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310896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Blackwell GPU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58568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58568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258568"/>
            <a:ext cx="310896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Grace / Vera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34056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734056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34056"/>
            <a:ext cx="310896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NVLink 与 NVSwitch 互联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09544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3209544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09544"/>
            <a:ext cx="310896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InfiniBand / Spectrum-X 网络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85032"/>
            <a:ext cx="3383280" cy="40233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3685032"/>
            <a:ext cx="45720" cy="40233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685032"/>
            <a:ext cx="3108960" cy="40233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CUDA 与 AI 软件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14800" y="2697480"/>
            <a:ext cx="685800" cy="0"/>
          </a:xfrm>
          <a:prstGeom prst="line">
            <a:avLst/>
          </a:prstGeom>
          <a:ln w="22860">
            <a:solidFill>
              <a:srgbClr val="76B9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937760" y="18288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>
            <a:off x="49377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5" name="Picture 24" descr="i_box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2029968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138928" y="2542032"/>
            <a:ext cx="329184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一座机架级 AI 工厂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2907792"/>
            <a:ext cx="3246120" cy="7315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GB300 NVL72 把 72 颗 GPU 融合成一台巨型加速器，作为开箱即用的完整系统交付。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370832"/>
            <a:ext cx="795527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数据中心是引擎：上季度 $75.2B，约占营收 92%（2027 财年一季度，截至 2026 年 4 月 26 日）。</a:t>
            </a:r>
          </a:p>
        </p:txBody>
      </p:sp>
      <p:pic>
        <p:nvPicPr>
          <p:cNvPr id="29" name="Picture 28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年度节奏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当下是 Blackwell Ultra，下一站 Vera Rubin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8229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42416" y="2066543"/>
            <a:ext cx="640080" cy="27432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080260"/>
            <a:ext cx="64008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0B0D"/>
                </a:solidFill>
                <a:latin typeface="Helvetica Neue"/>
                <a:ea typeface="PingFang SC"/>
                <a:cs typeface="PingFang SC"/>
              </a:rPr>
              <a:t>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87168"/>
            <a:ext cx="320040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Blackwell Ultra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907792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GB300 / GB300 NVL72，已在规模化出货。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09160" y="1828800"/>
            <a:ext cx="3657600" cy="17830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4709160" y="1828800"/>
            <a:ext cx="3657600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8E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28616" y="2066543"/>
            <a:ext cx="640080" cy="274320"/>
          </a:xfrm>
          <a:prstGeom prst="roundRect">
            <a:avLst>
              <a:gd name="adj" fmla="val 8000"/>
            </a:avLst>
          </a:prstGeom>
          <a:solidFill>
            <a:srgbClr val="38E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28616" y="2080260"/>
            <a:ext cx="64008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A0B0D"/>
                </a:solidFill>
                <a:latin typeface="Helvetica Neue"/>
                <a:ea typeface="PingFang SC"/>
                <a:cs typeface="PingFang SC"/>
              </a:rPr>
              <a:t>下一站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28616" y="2487168"/>
            <a:ext cx="320040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Vera Rubin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28616" y="2907792"/>
            <a:ext cx="324612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新一代平台，2026 年秋季全面量产。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26280" y="2715768"/>
            <a:ext cx="137160" cy="0"/>
          </a:xfrm>
          <a:prstGeom prst="line">
            <a:avLst/>
          </a:prstGeom>
          <a:ln w="22860">
            <a:solidFill>
              <a:srgbClr val="FFFFF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4069080"/>
            <a:ext cx="7955279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截至 2026 年，Blackwell 加 Rubin 的累计订单已超过 $500B（2025 年 10 月 29 日披露）。</a:t>
            </a:r>
          </a:p>
        </p:txBody>
      </p:sp>
      <p:pic>
        <p:nvPicPr>
          <p:cNvPr id="21" name="Picture 20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谁在用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谁跑在 NVIDIA 上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9" name="Picture 8" descr="i_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011679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43000" y="2029967"/>
            <a:ext cx="164591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云与 AI 服务商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2697480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2697480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CoreWeave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81528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3081528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Oracle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" y="3465576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3465576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Microsoft Azure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" y="3849624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3849624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Lambda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91839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3291839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1" name="Picture 20" descr="i_serv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583" y="2011679"/>
            <a:ext cx="365760" cy="3657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069079" y="2029967"/>
            <a:ext cx="164591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系统厂商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9583" y="2697480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3" y="2697480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Dell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29583" y="3081528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9583" y="3081528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HPE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9583" y="3465576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9583" y="3465576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Lenovo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29583" y="3849624"/>
            <a:ext cx="2084831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9583" y="3849624"/>
            <a:ext cx="2084831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Supermicro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19" y="1737360"/>
            <a:ext cx="2560319" cy="246888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6217919" y="1737360"/>
            <a:ext cx="256031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33" name="Picture 32" descr="i_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3" y="2011679"/>
            <a:ext cx="365760" cy="36576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95159" y="2029967"/>
            <a:ext cx="164591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主权 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3" y="2651760"/>
            <a:ext cx="2103119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约 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3" y="3520439"/>
            <a:ext cx="2103119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个国家正在 NVIDIA 上搭建本国的国家级 AI 基础设施。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608576"/>
            <a:ext cx="822960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云 / OEM 合作伙伴，以及约 40 国的主权 AI 计数，截至 2025–26 年。</a:t>
            </a:r>
          </a:p>
        </p:txBody>
      </p:sp>
      <p:pic>
        <p:nvPicPr>
          <p:cNvPr id="38" name="Picture 37" descr="nvidia_logo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护城河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软件才是持久的优势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993392"/>
            <a:ext cx="329184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r>
              <a:rPr sz="2400">
                <a:ea typeface="PingFang SC"/>
              </a:rPr>
              <a:t>约</a:t>
            </a:r>
          </a:p>
          <a:p>
            <a:r>
              <a:rPr sz="2400">
                <a:ea typeface="PingFang SC"/>
              </a:rPr>
              <a:t>600 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320040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全球开发者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27248"/>
            <a:ext cx="320040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200+ 个国家 · 900+ 个 CUDA-X 库（截至 GTC 2025）。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929384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874519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CUDA（始于 2006 年）让每一颗 NVIDIA GPU 都能即刻编程。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79191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24327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AI Enterprise、NIM 微服务和开放的 Nemotron 模型，把它带进生产环境。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428999"/>
            <a:ext cx="82296" cy="8229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374135"/>
            <a:ext cx="402336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生态越大，就越难离开这个平台。</a:t>
            </a:r>
          </a:p>
        </p:txBody>
      </p:sp>
      <p:pic>
        <p:nvPicPr>
          <p:cNvPr id="16" name="Picture 15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把上千颗 GPU 连成一台计算机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166360" cy="1874519"/>
          </a:xfrm>
          <a:prstGeom prst="roundRect">
            <a:avLst>
              <a:gd name="adj" fmla="val 8000"/>
            </a:avLst>
          </a:prstGeom>
          <a:solidFill>
            <a:srgbClr val="0E1216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417319" y="2313432"/>
            <a:ext cx="899161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773680" y="231343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130040" y="231343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417319" y="2862072"/>
            <a:ext cx="899161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73680" y="286207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30040" y="2862072"/>
            <a:ext cx="899160" cy="0"/>
          </a:xfrm>
          <a:prstGeom prst="line">
            <a:avLst/>
          </a:prstGeom>
          <a:ln w="1397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88719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4508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90144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257800" y="2478024"/>
            <a:ext cx="0" cy="219455"/>
          </a:xfrm>
          <a:prstGeom prst="line">
            <a:avLst/>
          </a:prstGeom>
          <a:ln w="12700">
            <a:solidFill>
              <a:srgbClr val="76B9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19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9" name="Picture 1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1" y="2203703"/>
            <a:ext cx="219456" cy="219456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231648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1" name="Picture 20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352" y="2203703"/>
            <a:ext cx="219456" cy="21945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67284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3" name="Picture 22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12" y="2203703"/>
            <a:ext cx="219456" cy="219456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029200" y="214883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5" name="Picture 24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203703"/>
            <a:ext cx="219456" cy="219456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60119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7" name="Picture 26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1" y="2752344"/>
            <a:ext cx="219456" cy="21945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231648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9" name="Picture 28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5352" y="2752344"/>
            <a:ext cx="219456" cy="21945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367284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31" name="Picture 30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1712" y="2752344"/>
            <a:ext cx="219456" cy="21945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5029200" y="2697479"/>
            <a:ext cx="457200" cy="329184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33" name="Picture 32" descr="s_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72" y="2752344"/>
            <a:ext cx="219456" cy="21945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0080" y="3346704"/>
            <a:ext cx="516636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一张 NVLink + InfiniBand / Spectrum-X 互联网络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1828800"/>
            <a:ext cx="2606040" cy="1874519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035040" y="1828800"/>
            <a:ext cx="54864" cy="1874519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54496" y="2084831"/>
            <a:ext cx="2286000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$14.8B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670048"/>
            <a:ext cx="2194560" cy="3200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上季度网络业务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017520"/>
            <a:ext cx="219456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同比 +199%；Spectrum-X 年化营收已过 $10B。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114800"/>
            <a:ext cx="795527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2020 年收购 Mellanox，让 NVIDIA 成为全栈网络公司。</a:t>
            </a:r>
          </a:p>
        </p:txBody>
      </p:sp>
      <p:pic>
        <p:nvPicPr>
          <p:cNvPr id="41" name="Picture 40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游戏 · 一切的起点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GeForce RTX，实时、AI 加速的图形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9" name="Picture 8" descr="i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057400"/>
            <a:ext cx="365760" cy="365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2624328"/>
            <a:ext cx="1426463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光线追踪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081528"/>
            <a:ext cx="1426463" cy="7315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实时呈现电影级、物理精确的光影。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>
            <a:off x="256032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4" name="Picture 13" descr="s_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488" y="2057400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761488" y="2624328"/>
            <a:ext cx="1426463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DLSS AI 渲染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3081528"/>
            <a:ext cx="1426463" cy="7315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神经渲染让帧率成倍提升。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>
            <a:off x="475488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9" name="Picture 18" descr="i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057400"/>
            <a:ext cx="365760" cy="3657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6048" y="2624328"/>
            <a:ext cx="1426463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同一套架构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081528"/>
            <a:ext cx="1426463" cy="7315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与数据中心同源的 Blackwell 架构。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783080"/>
            <a:ext cx="1828799" cy="210312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>
            <a:off x="6949440" y="1783080"/>
            <a:ext cx="182879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4" name="Picture 23" descr="i_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7" y="2057400"/>
            <a:ext cx="365760" cy="3657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50607" y="2624328"/>
            <a:ext cx="1426463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GeForce NOW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7" y="3081528"/>
            <a:ext cx="1426463" cy="7315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把整台主机从云端串流到任意设备。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仿真 · 数字孪生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Omniverse，物理 AI 的操作系统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7955279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在 OpenUSD 上构建物理精确的 3D 数字孪生，先在仿真里测试真实世界。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4023359" cy="1371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54864" cy="13716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2258568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约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2862072"/>
            <a:ext cx="3566159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更低的工厂规划成本，宝马已在虚拟环境中验证了整座工厂。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057400"/>
            <a:ext cx="4023359" cy="1371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2057400"/>
            <a:ext cx="54864" cy="1371600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92624" y="2258568"/>
            <a:ext cx="1828800" cy="54864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约 1,000×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2624" y="2862072"/>
            <a:ext cx="3566159" cy="5029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用 Earth-2 让预测提速千倍，能效还高约 3,000 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463040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BMW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31136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1136" y="3977639"/>
            <a:ext cx="1463040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Mercedes-Benz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22191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22191" y="3977639"/>
            <a:ext cx="1463040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Siemens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13248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13248" y="3977639"/>
            <a:ext cx="1463040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Ansys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04304" y="3977639"/>
            <a:ext cx="1463040" cy="292608"/>
          </a:xfrm>
          <a:prstGeom prst="roundRect">
            <a:avLst>
              <a:gd name="adj" fmla="val 8000"/>
            </a:avLst>
          </a:prstGeom>
          <a:solidFill>
            <a:srgbClr val="1A1D22"/>
          </a:solidFill>
          <a:ln w="1016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04304" y="3977639"/>
            <a:ext cx="1463040" cy="292608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Foxconn</a:t>
            </a:r>
          </a:p>
        </p:txBody>
      </p:sp>
      <p:pic>
        <p:nvPicPr>
          <p:cNvPr id="26" name="Picture 25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物理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从汽车到机器人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" y="1737360"/>
            <a:ext cx="4023359" cy="2514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365760" y="1737360"/>
            <a:ext cx="402335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9" name="Picture 8" descr="i_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48255"/>
            <a:ext cx="420624" cy="4206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2103120"/>
            <a:ext cx="2926079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自动驾驶汽车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88920"/>
            <a:ext cx="3474719" cy="9144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DRIVE AGX Thor 加 Hyperion 驱动 BYD、Mercedes-Benz、Lucid 和 JLR，还与 Uber 合力推进全球 robotaxi。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730752"/>
            <a:ext cx="365760" cy="2011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858768"/>
            <a:ext cx="347471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BYD  ·  Mercedes-Benz  ·  Lucid  ·  Uber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737360"/>
            <a:ext cx="4023359" cy="2514600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397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4754880" y="1737360"/>
            <a:ext cx="4023359" cy="54864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6" name="Picture 15" descr="s_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048255"/>
            <a:ext cx="420624" cy="4206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0" y="2103120"/>
            <a:ext cx="2926079" cy="4572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机器人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788920"/>
            <a:ext cx="3840479" cy="91440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Jetson Thor 加 Isaac 加开放的 GR00T 人形模型，驱动 Boston Dynamics、Figure 和工厂机器人。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730752"/>
            <a:ext cx="365760" cy="20116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858768"/>
            <a:ext cx="3474719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Boston Dynamics  ·  Figure  ·  ABB  ·  FANUC</a:t>
            </a:r>
          </a:p>
        </p:txBody>
      </p:sp>
      <p:pic>
        <p:nvPicPr>
          <p:cNvPr id="21" name="Picture 20" descr="nvidia_logo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价值所在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客户为什么选 NVIDIA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9" name="Picture 8" descr="i_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11095"/>
            <a:ext cx="329184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81328" y="1737360"/>
            <a:ext cx="246888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一个全栈平台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737360"/>
            <a:ext cx="457200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芯片、系统、网络与软件，经过验证能协同运转。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87168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2487168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4" name="Picture 13" descr="i_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660903"/>
            <a:ext cx="329184" cy="32918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481328" y="2487168"/>
            <a:ext cx="246888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处处可扩展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87168"/>
            <a:ext cx="457200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从一台游戏笔记本，到一座机架级 AI 工厂。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36975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36975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9" name="Picture 18" descr="i_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10711"/>
            <a:ext cx="329184" cy="32918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81328" y="3236975"/>
            <a:ext cx="246888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最大的生态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236975"/>
            <a:ext cx="457200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约 600 万开发者，以及业界最深的软件栈。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86783"/>
            <a:ext cx="8229600" cy="676656"/>
          </a:xfrm>
          <a:prstGeom prst="roundRect">
            <a:avLst>
              <a:gd name="adj" fmla="val 800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986783"/>
            <a:ext cx="45720" cy="676656"/>
          </a:xfrm>
          <a:prstGeom prst="roundRect">
            <a:avLst>
              <a:gd name="adj" fmla="val 8000"/>
            </a:avLst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24" name="Picture 23" descr="i_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60520"/>
            <a:ext cx="329184" cy="32918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81328" y="3986783"/>
            <a:ext cx="246888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规模化验证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986783"/>
            <a:ext cx="4572000" cy="676656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8CDD4"/>
                </a:solidFill>
                <a:latin typeface="Helvetica Neue"/>
                <a:ea typeface="PingFang SC"/>
                <a:cs typeface="PingFang SC"/>
              </a:rPr>
              <a:t>全世界领先的 AI，已经建在这个平台上。</a:t>
            </a:r>
          </a:p>
        </p:txBody>
      </p:sp>
      <p:pic>
        <p:nvPicPr>
          <p:cNvPr id="27" name="Picture 26" descr="nvidia_logo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A0B0D">
                  <a:alpha val="34000"/>
                </a:srgbClr>
              </a:gs>
              <a:gs pos="100000">
                <a:srgbClr val="0A0B0D">
                  <a:alpha val="3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20624"/>
            <a:ext cx="82296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增长曲线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84124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增长之上再增长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80160"/>
            <a:ext cx="1005840" cy="45720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8046720" cy="36576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按财年（每年 1 月底结束）划分的营收，且截至 2026 年已锁定 ≥ $500B 的 Blackwell 加 Rubin 订单。</a:t>
            </a:r>
          </a:p>
        </p:txBody>
      </p:sp>
      <p:sp>
        <p:nvSpPr>
          <p:cNvPr id="8" name="Round Same Side Corner Rectangle 7"/>
          <p:cNvSpPr/>
          <p:nvPr/>
        </p:nvSpPr>
        <p:spPr>
          <a:xfrm>
            <a:off x="1828800" y="3657557"/>
            <a:ext cx="1280160" cy="502962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121418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346661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$60.9B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33672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2024 财年</a:t>
            </a:r>
          </a:p>
        </p:txBody>
      </p:sp>
      <p:sp>
        <p:nvSpPr>
          <p:cNvPr id="11" name="Round Same Side Corner Rectangle 10"/>
          <p:cNvSpPr/>
          <p:nvPr/>
        </p:nvSpPr>
        <p:spPr>
          <a:xfrm>
            <a:off x="3931920" y="3082743"/>
            <a:ext cx="1280160" cy="1077776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323840"/>
          </a:solidFill>
          <a:ln w="12700">
            <a:solidFill>
              <a:srgbClr val="3238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771847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$130.5B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33672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2025 财年</a:t>
            </a:r>
          </a:p>
        </p:txBody>
      </p:sp>
      <p:sp>
        <p:nvSpPr>
          <p:cNvPr id="14" name="Round Same Side Corner Rectangle 13"/>
          <p:cNvSpPr/>
          <p:nvPr/>
        </p:nvSpPr>
        <p:spPr>
          <a:xfrm>
            <a:off x="6035040" y="2377440"/>
            <a:ext cx="1280160" cy="1783079"/>
          </a:xfrm>
          <a:prstGeom prst="round2SameRect">
            <a:avLst>
              <a:gd name="adj1" fmla="val 8000"/>
              <a:gd name="adj2" fmla="val 0"/>
            </a:avLst>
          </a:prstGeom>
          <a:solidFill>
            <a:srgbClr val="76B900"/>
          </a:solidFill>
          <a:ln w="1270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0" y="2066544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$215.9B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4233672"/>
            <a:ext cx="18288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2026 财年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0" y="4160520"/>
            <a:ext cx="6035040" cy="12801"/>
          </a:xfrm>
          <a:prstGeom prst="rect">
            <a:avLst/>
          </a:prstGeom>
          <a:solidFill>
            <a:srgbClr val="323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18" name="Picture 17" descr="nvidia_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12" y="4846320"/>
            <a:ext cx="785439" cy="1435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55279" y="4846320"/>
            <a:ext cx="731520" cy="1828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577840" cy="5143500"/>
          </a:xfrm>
          <a:prstGeom prst="rect">
            <a:avLst/>
          </a:prstGeom>
          <a:gradFill>
            <a:gsLst>
              <a:gs pos="0">
                <a:srgbClr val="0A0B0D">
                  <a:alpha val="88000"/>
                </a:srgbClr>
              </a:gs>
              <a:gs pos="100000">
                <a:srgbClr val="0A0B0D">
                  <a:alpha val="10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097280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开始上手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417320"/>
            <a:ext cx="4754880" cy="64008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探索这个平台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2121408"/>
            <a:ext cx="777240" cy="25603"/>
          </a:xfrm>
          <a:prstGeom prst="rect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" bIns="27432" lIns="36576" rIns="36576"/>
          <a:lstStyle/>
          <a:p>
            <a:pPr algn="ctr"/>
          </a:p>
        </p:txBody>
      </p:sp>
      <p:pic>
        <p:nvPicPr>
          <p:cNvPr id="7" name="Picture 6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350008"/>
            <a:ext cx="182880" cy="182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87552" y="2304288"/>
            <a:ext cx="365760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developer.nvidia.com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51176"/>
            <a:ext cx="3657600" cy="23774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CUDA、SDK 与开发者生态</a:t>
            </a:r>
          </a:p>
        </p:txBody>
      </p:sp>
      <p:pic>
        <p:nvPicPr>
          <p:cNvPr id="10" name="Picture 9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916936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871216"/>
            <a:ext cx="365760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NVIDIA AI 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118104"/>
            <a:ext cx="3657600" cy="23774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面向任何企业、可直接投产的 AI</a:t>
            </a:r>
          </a:p>
        </p:txBody>
      </p:sp>
      <p:pic>
        <p:nvPicPr>
          <p:cNvPr id="13" name="Picture 12" descr="i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83864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87552" y="3438144"/>
            <a:ext cx="3657600" cy="256032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Helvetica Neue"/>
                <a:ea typeface="PingFang SC"/>
                <a:cs typeface="PingFang SC"/>
              </a:rPr>
              <a:t>Omniverse · GeForce · DRIVE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685032"/>
            <a:ext cx="3657600" cy="237744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3AE"/>
                </a:solidFill>
                <a:latin typeface="Helvetica Neue"/>
                <a:ea typeface="PingFang SC"/>
                <a:cs typeface="PingFang SC"/>
              </a:rPr>
              <a:t>仿真、游戏与自动驾驶</a:t>
            </a:r>
          </a:p>
        </p:txBody>
      </p:sp>
      <p:pic>
        <p:nvPicPr>
          <p:cNvPr id="16" name="Picture 15" descr="nvidia_logo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24" y="4114800"/>
            <a:ext cx="2001118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3232" y="4572000"/>
            <a:ext cx="4572000" cy="274320"/>
          </a:xfrm>
          <a:prstGeom prst="rect">
            <a:avLst/>
          </a:prstGeom>
          <a:noFill/>
        </p:spPr>
        <p:txBody>
          <a:bodyPr wrap="square" anchor="ctr" lIns="36576" rIns="36576" tIns="27432" bIns="27432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76B900"/>
                </a:solidFill>
                <a:latin typeface="Helvetica Neue"/>
                <a:ea typeface="PingFang SC"/>
                <a:cs typeface="PingFang SC"/>
              </a:rPr>
              <a:t>AI 时代的引擎。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