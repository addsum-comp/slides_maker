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WMT14 英→德 BLEU</c:v>
                </c:pt>
              </c:strCache>
            </c:strRef>
          </c:tx>
          <c:spPr>
            <a:solidFill>
              <a:srgbClr val="B8BECC"/>
            </a:solidFill>
            <a:ln w="31750">
              <a:solidFill>
                <a:srgbClr val="B8BECC"/>
              </a:solidFill>
            </a:ln>
          </c:spPr>
          <c:dPt>
            <c:idx val="6"/>
            <c:spPr>
              <a:solidFill>
                <a:srgbClr val="364FC7"/>
              </a:solidFill>
            </c:spPr>
          </c:dPt>
          <c:dPt>
            <c:idx val="7"/>
            <c:spPr>
              <a:solidFill>
                <a:srgbClr val="C2410C"/>
              </a:solidFill>
            </c:spPr>
          </c:dPt>
          <c:cat>
            <c:strRef>
              <c:f>Sheet1!$A$2:$A$9</c:f>
              <c:strCache>
                <c:ptCount val="8"/>
                <c:pt idx="0">
                  <c:v>ByteNet</c:v>
                </c:pt>
                <c:pt idx="1">
                  <c:v>GNMT+RL</c:v>
                </c:pt>
                <c:pt idx="2">
                  <c:v>ConvS2S</c:v>
                </c:pt>
                <c:pt idx="3">
                  <c:v>MoE</c:v>
                </c:pt>
                <c:pt idx="4">
                  <c:v>GNMT 集成</c:v>
                </c:pt>
                <c:pt idx="5">
                  <c:v>ConvS2S 集成</c:v>
                </c:pt>
                <c:pt idx="6">
                  <c:v>Transformer base</c:v>
                </c:pt>
                <c:pt idx="7">
                  <c:v>Transformer big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23.75</c:v>
                </c:pt>
                <c:pt idx="1">
                  <c:v>24.6</c:v>
                </c:pt>
                <c:pt idx="2">
                  <c:v>25.16</c:v>
                </c:pt>
                <c:pt idx="3">
                  <c:v>26.03</c:v>
                </c:pt>
                <c:pt idx="4">
                  <c:v>26.3</c:v>
                </c:pt>
                <c:pt idx="5">
                  <c:v>26.36</c:v>
                </c:pt>
                <c:pt idx="6">
                  <c:v>27.3</c:v>
                </c:pt>
                <c:pt idx="7">
                  <c:v>28.4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454B58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 w="6350">
              <a:solidFill>
                <a:srgbClr val="E7E9F0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100">
          <a:solidFill>
            <a:srgbClr val="222A37"/>
          </a:solidFill>
          <a:latin typeface="Hiragino Sans GB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开场：2017 年 Google 的 8 个人写了这篇论文。今天几乎所有大模型的骨架都是它。我们花十几分钟把它拆开看。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先说它要解决什么。RNN 按位置一个个算，训练没法并行；卷积方案能并行但远距离要走很多层。注意力机制当时已经证明好用，但只是挂在 RNN 上的配角。这篇论文的胆子在于：把配角变成全部。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一句话主张：只用注意力，不要循环不要卷积。结果是三个数字：英德 28.4，超过之前所有模型包括集成模型 2 个 BLEU 以上；英法 41.8 单模型纪录；大模型只训了 3.5 天，基础版 12 小时就超过了所有已发表模型。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整体架构：左边编码器右边解码器，各堆 6 层。每层就两种零件：多头注意力和逐位置前馈网络，外面套残差和 LayerNorm。解码器多一个子层去看编码器输出，自注意力加了掩码保证自回归。全模型维度统一 512。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核心算子。查询和所有键做点积得到相似度，softmax 变成权重，再加权求和值向量。除以根号 dk 是个关键小细节：维度大时点积方差变大，softmax 会饱和，梯度消失。整个过程就是两次矩阵乘法，快得很。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单头注意力会把信息平均掉，所以分 8 个头，各自在 64 维的子空间里做注意力再拼回来。总计算量不变，但不同的头能学到不同的关系模式。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同一个机制用在三个地方：编码器内部互相看，解码器只准看前缀（掩码实现），解码器查编码器。三处复用，架构非常干净。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剩下两个零件。前馈网络逐位置独立，内层 2048。位置信息用正弦波注入：每个维度一种波长，几何级数排开。好处是任意固定偏移是线性关系，好学相对位置；而且理论上能外推到更长的序列。实验里学习式的位置嵌入效果几乎一样。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为什么押注自注意力，论文给了张复杂度表：串行操作 O(1)、最长路径 O(1)，都比 RNN 好；每层复杂度 n²d 看着吓人，但句子长度 n 通常小于维度 d，所以实际也更省。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训练配方很朴素：WMT14 标准数据，8 块 P100 一台机器。Adam 加 4000 步 warmup，dropout 0.1，标签平滑 0.1。没有花活。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结果。柱状图是英德 BLEU：基础版 27.3 已超过之前所有单模型和集成，大杯 28.4 直接改写纪录。右边是代价：基础版的训练算力只有 GNMT 的七分之一。又快又好，不是权衡。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消融实验告诉你什么真的重要：头数有甜点位，1 个头差 0.9，32 个头也变差；键维度不能省；模型越大越好，dropout 非常关键；位置编码学习式和正弦式几乎没差。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两个彩蛋。一是泛化：几乎不调参去做英语成分句法解析，小数据都能打赢大多数专门模型。二是可解释性：这个头把 making 和 14 个词外的 more difficult 直接连上了，远距离依赖真的被学到了。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结论三句话：第一个纯注意力的序列转换模型；训练更快还拿了双料 SOTA；他们自己说要扩展到图像音频视频、研究局部注意力、让生成更并行。回头看全说中了。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这页是我加的延伸，论文里没有：BERT 拿走编码器，GPT 拿走解码器，ViT 把它带进视觉，今天几乎所有前沿模型都是它的后代。谢谢，欢迎提问。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8A8F9A"/>
                </a:solidFill>
                <a:latin typeface="Consolas"/>
                <a:ea typeface="Hiragino Sans GB"/>
              </a:rPr>
              <a:t>NIPS 2017 · GOOGLE BRAIN / GOOGLE RESEARCH · ARXIV:1706.03762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7955279" cy="10058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2430"/>
                </a:solidFill>
                <a:latin typeface="Helvetica Neue"/>
                <a:ea typeface="Hiragino Sans GB"/>
              </a:rPr>
              <a:t>Attention Is All You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12848"/>
            <a:ext cx="2926080" cy="45720"/>
          </a:xfrm>
          <a:prstGeom prst="rect">
            <a:avLst/>
          </a:prstGeom>
          <a:gradFill rotWithShape="1">
            <a:gsLst>
              <a:gs pos="0">
                <a:srgbClr val="C2410C"/>
              </a:gs>
              <a:gs pos="100000">
                <a:srgbClr val="364FC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786384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454B58"/>
                </a:solidFill>
                <a:latin typeface="Helvetica Neue"/>
                <a:ea typeface="Hiragino Sans GB"/>
              </a:rPr>
              <a:t>Transformer 架构精读 · 只用注意力的序列转换模型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27248"/>
            <a:ext cx="7863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F9A"/>
                </a:solidFill>
                <a:latin typeface="Helvetica Neue"/>
                <a:ea typeface="Hiragino Sans GB"/>
              </a:rPr>
              <a:t>Vaswani · Shazeer · Parmar · Uszkoreit · Jones · Gomez · Kaiser · Polosukhin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2410C"/>
                </a:solidFill>
                <a:latin typeface="Menlo"/>
                <a:ea typeface="Hiragino Sans GB"/>
              </a:rPr>
              <a:t>WMT14 · EN→DE 28.4 BLEU · EN→FR 41.8 BLEU · 8× P100 · 3.5 天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4759452"/>
            <a:ext cx="822960" cy="3657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59952" y="3954779"/>
            <a:ext cx="36576" cy="82296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01 ·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串行计算，是 RNN 的天花板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FA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0C"/>
                </a:solidFill>
                <a:latin typeface="Helvetica Neue"/>
                <a:ea typeface="Hiragino Sans GB"/>
              </a:rPr>
              <a:t>破局  </a:t>
            </a:r>
            <a:r>
              <a:rPr sz="1250" b="0" i="0">
                <a:solidFill>
                  <a:srgbClr val="1F2430"/>
                </a:solidFill>
                <a:latin typeface="Helvetica Neue"/>
                <a:ea typeface="Hiragino Sans GB"/>
              </a:rPr>
              <a:t>Transformer 干脆丢掉循环和卷积：任意两个位置之间，恒定步数直接相连。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62455"/>
            <a:ext cx="256031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62455"/>
            <a:ext cx="73152" cy="2148840"/>
          </a:xfrm>
          <a:prstGeom prst="rect">
            <a:avLst/>
          </a:prstGeom>
          <a:solidFill>
            <a:srgbClr val="364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45335"/>
            <a:ext cx="2157983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364FC7"/>
                </a:solidFill>
                <a:latin typeface="Helvetica Neue"/>
                <a:ea typeface="Hiragino Sans GB"/>
              </a:rPr>
              <a:t>逐位置串行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1929384"/>
            <a:ext cx="2157983" cy="1417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54B58"/>
                </a:solidFill>
                <a:latin typeface="Helvetica Neue"/>
                <a:ea typeface="Hiragino Sans GB"/>
              </a:rPr>
              <a:t>隐状态 h(t) 依赖 h(t−1)，训练样本内部完全无法并行，序列一长就卡死。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39" y="1362455"/>
            <a:ext cx="256031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39" y="1362455"/>
            <a:ext cx="73152" cy="21488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5" y="1545335"/>
            <a:ext cx="2157983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C2410C"/>
                </a:solidFill>
                <a:latin typeface="Helvetica Neue"/>
                <a:ea typeface="Hiragino Sans GB"/>
              </a:rPr>
              <a:t>远距离难学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5" y="1929384"/>
            <a:ext cx="2157983" cy="1417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54B58"/>
                </a:solidFill>
                <a:latin typeface="Helvetica Neue"/>
                <a:ea typeface="Hiragino Sans GB"/>
              </a:rPr>
              <a:t>卷积方案（ConvS2S / ByteNet）连接两个位置的操作数随距离线性或对数增长。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1362455"/>
            <a:ext cx="256031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1362455"/>
            <a:ext cx="73152" cy="2148840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5" y="1545335"/>
            <a:ext cx="2157983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7285"/>
                </a:solidFill>
                <a:latin typeface="Helvetica Neue"/>
                <a:ea typeface="Hiragino Sans GB"/>
              </a:rPr>
              <a:t>注意力只是配角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5" y="1929384"/>
            <a:ext cx="2157983" cy="1417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54B58"/>
                </a:solidFill>
                <a:latin typeface="Helvetica Neue"/>
                <a:ea typeface="Hiragino Sans GB"/>
              </a:rPr>
              <a:t>注意力早已好用，但几乎总是挂在循环网络上，串行瓶颈还在。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02 · 主张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只用注意力：更快，也更好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78638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454B58"/>
                </a:solidFill>
                <a:latin typeface="Helvetica Neue"/>
                <a:ea typeface="Hiragino Sans GB"/>
              </a:rPr>
              <a:t>第一个完全基于注意力的序列转换模型，训练并行度大幅提高，翻译质量反而更高。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3774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2430"/>
                </a:solidFill>
                <a:latin typeface="Helvetica Neue"/>
                <a:ea typeface="Hiragino Sans GB"/>
              </a:rPr>
              <a:t>28.4</a:t>
            </a:r>
            <a:r>
              <a:rPr sz="1428" b="1" i="0">
                <a:solidFill>
                  <a:srgbClr val="C2410C"/>
                </a:solidFill>
                <a:latin typeface="Helvetica Neue"/>
                <a:ea typeface="Hiragino Sans GB"/>
              </a:rPr>
              <a:t> BLEU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00984"/>
            <a:ext cx="23774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8"/>
                </a:solidFill>
                <a:latin typeface="Helvetica Neue"/>
                <a:ea typeface="Hiragino Sans GB"/>
              </a:rPr>
              <a:t>WMT14 英→德，超过此前所有模型和集成 2 BLEU 以上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3774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2430"/>
                </a:solidFill>
                <a:latin typeface="Helvetica Neue"/>
                <a:ea typeface="Hiragino Sans GB"/>
              </a:rPr>
              <a:t>41.8</a:t>
            </a:r>
            <a:r>
              <a:rPr sz="1428" b="1" i="0">
                <a:solidFill>
                  <a:srgbClr val="C2410C"/>
                </a:solidFill>
                <a:latin typeface="Helvetica Neue"/>
                <a:ea typeface="Hiragino Sans GB"/>
              </a:rPr>
              <a:t> BLEU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300984"/>
            <a:ext cx="23774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8"/>
                </a:solidFill>
                <a:latin typeface="Helvetica Neue"/>
                <a:ea typeface="Hiragino Sans GB"/>
              </a:rPr>
              <a:t>WMT14 英→法，单模型新纪录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752344"/>
            <a:ext cx="12801" cy="8229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3774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2430"/>
                </a:solidFill>
                <a:latin typeface="Helvetica Neue"/>
                <a:ea typeface="Hiragino Sans GB"/>
              </a:rPr>
              <a:t>3.5</a:t>
            </a:r>
            <a:r>
              <a:rPr sz="1428" b="1" i="0">
                <a:solidFill>
                  <a:srgbClr val="C2410C"/>
                </a:solidFill>
                <a:latin typeface="Helvetica Neue"/>
                <a:ea typeface="Hiragino Sans GB"/>
              </a:rPr>
              <a:t> 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300984"/>
            <a:ext cx="23774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8"/>
                </a:solidFill>
                <a:latin typeface="Helvetica Neue"/>
                <a:ea typeface="Hiragino Sans GB"/>
              </a:rPr>
              <a:t>8 块 P100 训练大模型；基础版 12 小时即在英→德超所有已发表模型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752344"/>
            <a:ext cx="12801" cy="8229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03 ·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六层编码器 + 六层解码器，全靠注意力和前馈层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3749039" cy="32872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ansformer model architecture, paper Figure 1" title="Transformer model architecture, paper Fig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541" y="1170432"/>
            <a:ext cx="2167796" cy="31592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421124"/>
            <a:ext cx="347471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8F9A"/>
                </a:solidFill>
                <a:latin typeface="Helvetica Neue"/>
                <a:ea typeface="Hiragino Sans GB"/>
              </a:rPr>
              <a:t>图：论文 Figure 1（原图）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389888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1307592"/>
            <a:ext cx="363931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Helvetica Neue"/>
                <a:ea typeface="Hiragino Sans GB"/>
              </a:rPr>
              <a:t>编码器 ×6：</a:t>
            </a:r>
            <a:r>
              <a:rPr sz="1400" b="0" i="0">
                <a:solidFill>
                  <a:srgbClr val="454B58"/>
                </a:solidFill>
                <a:latin typeface="Helvetica Neue"/>
                <a:ea typeface="Hiragino Sans GB"/>
              </a:rPr>
              <a:t>每层 = 多头自注意力 + 逐位置前馈网络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153919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2071623"/>
            <a:ext cx="363931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Helvetica Neue"/>
                <a:ea typeface="Hiragino Sans GB"/>
              </a:rPr>
              <a:t>解码器 ×6：</a:t>
            </a:r>
            <a:r>
              <a:rPr sz="1400" b="0" i="0">
                <a:solidFill>
                  <a:srgbClr val="454B58"/>
                </a:solidFill>
                <a:latin typeface="Helvetica Neue"/>
                <a:ea typeface="Hiragino Sans GB"/>
              </a:rPr>
              <a:t>多一个「编码器-解码器注意力」子层；自注意力带掩码，只能看已生成的前缀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917951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2835656"/>
            <a:ext cx="363931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Helvetica Neue"/>
                <a:ea typeface="Hiragino Sans GB"/>
              </a:rPr>
              <a:t>残差 + LayerNorm：</a:t>
            </a:r>
            <a:r>
              <a:rPr sz="1400" b="0" i="0">
                <a:solidFill>
                  <a:srgbClr val="454B58"/>
                </a:solidFill>
                <a:latin typeface="Helvetica Neue"/>
                <a:ea typeface="Hiragino Sans GB"/>
              </a:rPr>
              <a:t>每个子层外套 LayerNorm(x + Sublayer(x))，全模型统一 d_model = 512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3881120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3798824"/>
            <a:ext cx="363931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Helvetica Neue"/>
                <a:ea typeface="Hiragino Sans GB"/>
              </a:rPr>
              <a:t>输出：</a:t>
            </a:r>
            <a:r>
              <a:rPr sz="1400" b="0" i="0">
                <a:solidFill>
                  <a:srgbClr val="454B58"/>
                </a:solidFill>
                <a:latin typeface="Helvetica Neue"/>
                <a:ea typeface="Hiragino Sans GB"/>
              </a:rPr>
              <a:t>线性层 + softmax 预测下一个词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03 ·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缩放点积注意力：一次矩阵乘法算出所有权重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15568"/>
            <a:ext cx="3383279" cy="3268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aled dot-product attention diagram, paper Figure 2 left" title="Scaled dot-product attention diagram, paper Figure 2 lef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342" y="1143000"/>
            <a:ext cx="1604194" cy="32324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402836"/>
            <a:ext cx="347471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8F9A"/>
                </a:solidFill>
                <a:latin typeface="Helvetica Neue"/>
                <a:ea typeface="Hiragino Sans GB"/>
              </a:rPr>
              <a:t>论文 Figure 2 左</a:t>
            </a:r>
          </a:p>
        </p:txBody>
      </p:sp>
      <p:pic>
        <p:nvPicPr>
          <p:cNvPr id="11" name="Picture 10" descr="Attention(Q,K,V) = softmax(QK^T / sqrt(dk)) V" title="Attention(Q,K,V) = softmax(QK^T / sqrt(dk)) 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16848"/>
            <a:ext cx="3566159" cy="40211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846320" y="2212847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130551"/>
            <a:ext cx="363931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Helvetica Neue"/>
                <a:ea typeface="Hiragino Sans GB"/>
              </a:rPr>
              <a:t>Q·K 定权重：</a:t>
            </a:r>
            <a:r>
              <a:rPr sz="1400" b="0" i="0">
                <a:solidFill>
                  <a:srgbClr val="454B58"/>
                </a:solidFill>
                <a:latin typeface="Helvetica Neue"/>
                <a:ea typeface="Hiragino Sans GB"/>
              </a:rPr>
              <a:t>查询与所有键做点积，softmax 后变成对值 V 的加权求和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922015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2839719"/>
            <a:ext cx="363931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Helvetica Neue"/>
                <a:ea typeface="Hiragino Sans GB"/>
              </a:rPr>
              <a:t>除以根号dk：</a:t>
            </a:r>
            <a:r>
              <a:rPr sz="1400" b="0" i="0">
                <a:solidFill>
                  <a:srgbClr val="454B58"/>
                </a:solidFill>
                <a:latin typeface="Helvetica Neue"/>
                <a:ea typeface="Hiragino Sans GB"/>
              </a:rPr>
              <a:t>维度大时点积会把 softmax 推进梯度极小区，缩放救回来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631183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3548887"/>
            <a:ext cx="363931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Helvetica Neue"/>
                <a:ea typeface="Hiragino Sans GB"/>
              </a:rPr>
              <a:t>快且省：</a:t>
            </a:r>
            <a:r>
              <a:rPr sz="1400" b="0" i="0">
                <a:solidFill>
                  <a:srgbClr val="454B58"/>
                </a:solidFill>
                <a:latin typeface="Helvetica Neue"/>
                <a:ea typeface="Hiragino Sans GB"/>
              </a:rPr>
              <a:t>整个序列打包成矩阵一次算完，靠的是高度优化的矩阵乘法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03 ·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多头注意力：8 个子空间同时看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15568"/>
            <a:ext cx="3566159" cy="3268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ulti-head attention diagram, paper Figure 2 right" title="Multi-head attention diagram, paper Figure 2 r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16" y="1143000"/>
            <a:ext cx="2977846" cy="32324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402836"/>
            <a:ext cx="347471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8F9A"/>
                </a:solidFill>
                <a:latin typeface="Helvetica Neue"/>
                <a:ea typeface="Hiragino Sans GB"/>
              </a:rPr>
              <a:t>论文 Figure 2 右</a:t>
            </a:r>
          </a:p>
        </p:txBody>
      </p:sp>
      <p:pic>
        <p:nvPicPr>
          <p:cNvPr id="11" name="Picture 10" descr="MultiHead(Q,K,V)=Concat(head_1..head_h) W^O; head_i=Attention(QW_i^Q, KW_i^K, VW_i^V)" title="MultiHead(Q,K,V)=Concat(head_1..head_h) W^O; head_i=Attention(QW_i^Q, KW_i^K, VW_i^V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36020"/>
            <a:ext cx="3474719" cy="67349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846320" y="2304288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221992"/>
            <a:ext cx="363931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Helvetica Neue"/>
                <a:ea typeface="Hiragino Sans GB"/>
              </a:rPr>
              <a:t>h = 8 个头并行：</a:t>
            </a:r>
            <a:r>
              <a:rPr sz="1400" b="0" i="0">
                <a:solidFill>
                  <a:srgbClr val="454B58"/>
                </a:solidFill>
                <a:latin typeface="Helvetica Neue"/>
                <a:ea typeface="Hiragino Sans GB"/>
              </a:rPr>
              <a:t>Q、K、V 各自线性投影 8 次，分头做注意力再拼接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013456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2931160"/>
            <a:ext cx="363931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Helvetica Neue"/>
                <a:ea typeface="Hiragino Sans GB"/>
              </a:rPr>
              <a:t>每头 dk = dv = 64：</a:t>
            </a:r>
            <a:r>
              <a:rPr sz="1400" b="0" i="0">
                <a:solidFill>
                  <a:srgbClr val="454B58"/>
                </a:solidFill>
                <a:latin typeface="Helvetica Neue"/>
                <a:ea typeface="Hiragino Sans GB"/>
              </a:rPr>
              <a:t>维度按头数摊薄，总计算量和单头全维度相当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722624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3640328"/>
            <a:ext cx="363931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Helvetica Neue"/>
                <a:ea typeface="Hiragino Sans GB"/>
              </a:rPr>
              <a:t>为什么要多头：</a:t>
            </a:r>
            <a:r>
              <a:rPr sz="1400" b="0" i="0">
                <a:solidFill>
                  <a:srgbClr val="454B58"/>
                </a:solidFill>
                <a:latin typeface="Helvetica Neue"/>
                <a:ea typeface="Hiragino Sans GB"/>
              </a:rPr>
              <a:t>单头会把不同位置的信息平均掉；多头让不同头盯不同的表示子空间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03 ·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同一个机制，三处使用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48790"/>
            <a:ext cx="25603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023110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1968246"/>
            <a:ext cx="1664207" cy="51206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64FC7"/>
                </a:solidFill>
                <a:latin typeface="Helvetica Neue"/>
                <a:ea typeface="Hiragino Sans GB"/>
              </a:rPr>
              <a:t>编码器自注意力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63190"/>
            <a:ext cx="2084831" cy="123443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54B58"/>
                </a:solidFill>
                <a:latin typeface="Helvetica Neue"/>
                <a:ea typeface="Hiragino Sans GB"/>
              </a:rPr>
              <a:t>Q、K、V 都来自上一层编码器输出，每个位置看全句。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39" y="1748790"/>
            <a:ext cx="25603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3" y="2023110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23359" y="1968246"/>
            <a:ext cx="1664207" cy="51206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2410C"/>
                </a:solidFill>
                <a:latin typeface="Helvetica Neue"/>
                <a:ea typeface="Hiragino Sans GB"/>
              </a:rPr>
              <a:t>解码器掩码自注意力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3" y="2663190"/>
            <a:ext cx="2084831" cy="123443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54B58"/>
                </a:solidFill>
                <a:latin typeface="Helvetica Neue"/>
                <a:ea typeface="Hiragino Sans GB"/>
              </a:rPr>
              <a:t>softmax 前把非法连接设为负无穷，每个位置只能看到之前的输出，保住自回归。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19" y="1748790"/>
            <a:ext cx="25603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i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3" y="2023110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49439" y="1968246"/>
            <a:ext cx="1664207" cy="51206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7285"/>
                </a:solidFill>
                <a:latin typeface="Helvetica Neue"/>
                <a:ea typeface="Hiragino Sans GB"/>
              </a:rPr>
              <a:t>编码器-解码器注意力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3" y="2663190"/>
            <a:ext cx="2084831" cy="123443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54B58"/>
                </a:solidFill>
                <a:latin typeface="Helvetica Neue"/>
                <a:ea typeface="Hiragino Sans GB"/>
              </a:rPr>
              <a:t>Q 来自解码器，K、V 来自编码器输出，解码每一步都能查全部输入。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03 ·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注意力之外，只剩前馈网络和位置编码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344168"/>
            <a:ext cx="26517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Helvetica Neue"/>
                <a:ea typeface="Hiragino Sans GB"/>
              </a:rPr>
              <a:t>逐位置前馈网络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618488"/>
            <a:ext cx="4206240" cy="438912"/>
          </a:xfrm>
          <a:prstGeom prst="rect">
            <a:avLst/>
          </a:prstGeom>
          <a:noFill/>
          <a:ln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F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F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N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(</a:t>
            </a:r>
            <a:r>
              <a:rPr sz="1500" b="0" i="1">
                <a:solidFill>
                  <a:srgbClr val="1F2430"/>
                </a:solidFill>
                <a:latin typeface="STIX Two Math"/>
                <a:ea typeface="Hiragino Sans GB"/>
              </a:rPr>
              <a:t>x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)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=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m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a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x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(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0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,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 </a:t>
            </a:r>
            <a:r>
              <a:rPr sz="1500" b="0" i="1">
                <a:solidFill>
                  <a:srgbClr val="1F2430"/>
                </a:solidFill>
                <a:latin typeface="STIX Two Math"/>
                <a:ea typeface="Hiragino Sans GB"/>
              </a:rPr>
              <a:t>x</a:t>
            </a:r>
            <a:r>
              <a:rPr sz="1500" b="0" i="1">
                <a:solidFill>
                  <a:srgbClr val="1F2430"/>
                </a:solidFill>
                <a:latin typeface="STIX Two Math"/>
                <a:ea typeface="Hiragino Sans GB"/>
              </a:rPr>
              <a:t>W</a:t>
            </a:r>
            <a:r>
              <a:rPr sz="930" b="0" i="0" baseline="-22000">
                <a:solidFill>
                  <a:srgbClr val="1F2430"/>
                </a:solidFill>
                <a:latin typeface="STIX Two Math"/>
                <a:ea typeface="Hiragino Sans GB"/>
              </a:rPr>
              <a:t>1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+</a:t>
            </a:r>
            <a:r>
              <a:rPr sz="1500" b="0" i="1">
                <a:solidFill>
                  <a:srgbClr val="1F2430"/>
                </a:solidFill>
                <a:latin typeface="STIX Two Math"/>
                <a:ea typeface="Hiragino Sans GB"/>
              </a:rPr>
              <a:t>b</a:t>
            </a:r>
            <a:r>
              <a:rPr sz="930" b="0" i="0" baseline="-22000">
                <a:solidFill>
                  <a:srgbClr val="1F2430"/>
                </a:solidFill>
                <a:latin typeface="STIX Two Math"/>
                <a:ea typeface="Hiragino Sans GB"/>
              </a:rPr>
              <a:t>1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)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 </a:t>
            </a:r>
            <a:r>
              <a:rPr sz="1500" b="0" i="1">
                <a:solidFill>
                  <a:srgbClr val="1F2430"/>
                </a:solidFill>
                <a:latin typeface="STIX Two Math"/>
                <a:ea typeface="Hiragino Sans GB"/>
              </a:rPr>
              <a:t>W</a:t>
            </a:r>
            <a:r>
              <a:rPr sz="930" b="0" i="0" baseline="-22000">
                <a:solidFill>
                  <a:srgbClr val="1F2430"/>
                </a:solidFill>
                <a:latin typeface="STIX Two Math"/>
                <a:ea typeface="Hiragino Sans GB"/>
              </a:rPr>
              <a:t>2</a:t>
            </a:r>
            <a:r>
              <a:rPr sz="1500" b="0" i="0">
                <a:solidFill>
                  <a:srgbClr val="1F2430"/>
                </a:solidFill>
                <a:latin typeface="STIX Two Math"/>
                <a:ea typeface="Hiragino Sans GB"/>
              </a:rPr>
              <a:t>+</a:t>
            </a:r>
            <a:r>
              <a:rPr sz="1500" b="0" i="1">
                <a:solidFill>
                  <a:srgbClr val="1F2430"/>
                </a:solidFill>
                <a:latin typeface="STIX Two Math"/>
                <a:ea typeface="Hiragino Sans GB"/>
              </a:rPr>
              <a:t>b</a:t>
            </a:r>
            <a:r>
              <a:rPr sz="930" b="0" i="0" baseline="-22000">
                <a:solidFill>
                  <a:srgbClr val="1F2430"/>
                </a:solidFill>
                <a:latin typeface="STIX Two Math"/>
                <a:ea typeface="Hiragino Sans GB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325880"/>
            <a:ext cx="3520439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B58"/>
                </a:solidFill>
                <a:latin typeface="Helvetica Neue"/>
                <a:ea typeface="Hiragino Sans GB"/>
              </a:rPr>
              <a:t>每个位置独立过同一个两层网络，内层维度 d_ff = 2048。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31720"/>
            <a:ext cx="8412480" cy="22174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2441448"/>
            <a:ext cx="3108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2410C"/>
                </a:solidFill>
                <a:latin typeface="Helvetica Neue"/>
                <a:ea typeface="Hiragino Sans GB"/>
              </a:rPr>
              <a:t>正弦位置编码</a:t>
            </a:r>
          </a:p>
        </p:txBody>
      </p:sp>
      <p:pic>
        <p:nvPicPr>
          <p:cNvPr id="14" name="Picture 13" descr="PE(pos,2i)=sin(pos/10000^(2i/dmodel)); PE(pos,2i+1)=cos(...)" title="PE(pos,2i)=sin(pos/10000^(2i/dmodel)); PE(pos,2i+1)=cos(...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834809"/>
            <a:ext cx="3017520" cy="58487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6" y="3630168"/>
            <a:ext cx="3063240" cy="78181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54B58"/>
                </a:solidFill>
                <a:latin typeface="Helvetica Neue"/>
                <a:ea typeface="Hiragino Sans GB"/>
              </a:rPr>
              <a:t>没有循环和卷积，顺序靠加在词嵌入上的正弦波注入：每个维度一种波长（右图）。固定偏移是线性关系，便于学相对位置；学习式位置嵌入效果几乎相同。</a:t>
            </a:r>
          </a:p>
        </p:txBody>
      </p:sp>
      <p:pic>
        <p:nvPicPr>
          <p:cNvPr id="16" name="Picture 15" descr="Sinusoids of different wavelengths per dimension" title="Sinusoids of different wavelengths per dimen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685207"/>
            <a:ext cx="4663440" cy="16567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04 · 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为什么自注意力：路径最短，串行恒定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26763"/>
            <a:ext cx="8046720" cy="722376"/>
          </a:xfrm>
          <a:prstGeom prst="roundRect">
            <a:avLst>
              <a:gd name="adj" fmla="val 8000"/>
            </a:avLst>
          </a:prstGeom>
          <a:solidFill>
            <a:srgbClr val="FA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884554"/>
            <a:ext cx="64008" cy="606795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826763"/>
            <a:ext cx="7644384" cy="7223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0C"/>
                </a:solidFill>
                <a:latin typeface="Helvetica Neue"/>
                <a:ea typeface="Hiragino Sans GB"/>
              </a:rPr>
              <a:t>要点  </a:t>
            </a:r>
            <a:r>
              <a:rPr sz="1250" b="0" i="0">
                <a:solidFill>
                  <a:srgbClr val="1F2430"/>
                </a:solidFill>
                <a:latin typeface="Helvetica Neue"/>
                <a:ea typeface="Hiragino Sans GB"/>
              </a:rPr>
              <a:t>任意两位置一步直达（路径 O(1)），串行操作恒定；句子表示常见 n &lt; d，自注意力连每层计算量也更低。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1417320"/>
          <a:ext cx="7315200" cy="19019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430"/>
                          </a:solidFill>
                          <a:latin typeface="Helvetica Neue"/>
                          <a:ea typeface="Hiragino Sans GB"/>
                        </a:rPr>
                        <a:t>层类型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F2430"/>
                      </a:solidFill>
                    </a:lnT>
                    <a:lnB w="10160" cap="flat" cmpd="sng" algn="ctr">
                      <a:solidFill>
                        <a:srgbClr val="5A647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F2430"/>
                          </a:solidFill>
                          <a:latin typeface="Helvetica Neue"/>
                          <a:ea typeface="Hiragino Sans GB"/>
                        </a:rPr>
                        <a:t>每层复杂度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F2430"/>
                      </a:solidFill>
                    </a:lnT>
                    <a:lnB w="10160" cap="flat" cmpd="sng" algn="ctr">
                      <a:solidFill>
                        <a:srgbClr val="5A647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F2430"/>
                          </a:solidFill>
                          <a:latin typeface="Helvetica Neue"/>
                          <a:ea typeface="Hiragino Sans GB"/>
                        </a:rPr>
                        <a:t>串行操作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F2430"/>
                      </a:solidFill>
                    </a:lnT>
                    <a:lnB w="10160" cap="flat" cmpd="sng" algn="ctr">
                      <a:solidFill>
                        <a:srgbClr val="5A647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F2430"/>
                          </a:solidFill>
                          <a:latin typeface="Helvetica Neue"/>
                          <a:ea typeface="Hiragino Sans GB"/>
                        </a:rPr>
                        <a:t>最长路径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F2430"/>
                      </a:solidFill>
                    </a:lnT>
                    <a:lnB w="10160" cap="flat" cmpd="sng" algn="ctr">
                      <a:solidFill>
                        <a:srgbClr val="5A6472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C2410C"/>
                          </a:solidFill>
                          <a:latin typeface="Helvetica Neue"/>
                          <a:ea typeface="Hiragino Sans GB"/>
                        </a:rPr>
                        <a:t>自注意力</a:t>
                      </a:r>
                    </a:p>
                  </a:txBody>
                  <a:tcPr marL="88900" marR="88900" marT="25400" marB="25400" anchor="ctr">
                    <a:solidFill>
                      <a:srgbClr val="FAEC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C2410C"/>
                          </a:solidFill>
                          <a:latin typeface="Helvetica Neue"/>
                          <a:ea typeface="Hiragino Sans GB"/>
                        </a:rPr>
                        <a:t>O(n² · d)</a:t>
                      </a:r>
                    </a:p>
                  </a:txBody>
                  <a:tcPr marL="88900" marR="88900" marT="25400" marB="25400" anchor="ctr">
                    <a:solidFill>
                      <a:srgbClr val="FAEC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C2410C"/>
                          </a:solidFill>
                          <a:latin typeface="Helvetica Neue"/>
                          <a:ea typeface="Hiragino Sans GB"/>
                        </a:rPr>
                        <a:t>O(1)</a:t>
                      </a:r>
                    </a:p>
                  </a:txBody>
                  <a:tcPr marL="88900" marR="88900" marT="25400" marB="25400" anchor="ctr">
                    <a:solidFill>
                      <a:srgbClr val="FAEC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C2410C"/>
                          </a:solidFill>
                          <a:latin typeface="Helvetica Neue"/>
                          <a:ea typeface="Hiragino Sans GB"/>
                        </a:rPr>
                        <a:t>O(1)</a:t>
                      </a:r>
                    </a:p>
                  </a:txBody>
                  <a:tcPr marL="88900" marR="88900" marT="25400" marB="25400" anchor="ctr">
                    <a:solidFill>
                      <a:srgbClr val="FAECE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循环层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O(n · d²)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O(n)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O(n)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卷积层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F24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O(k · n · d²)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F24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O(1)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F24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O(log_k n)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F243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05 · 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训练配方：8 块 P100，最多 3.5 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4023359" cy="34518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53312"/>
            <a:ext cx="3566159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2410C"/>
                </a:solidFill>
                <a:latin typeface="Helvetica Neue"/>
                <a:ea typeface="Hiragino Sans GB"/>
              </a:rPr>
              <a:t>数据与分词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92224"/>
            <a:ext cx="1234440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8A8F9A"/>
                </a:solidFill>
                <a:latin typeface="Helvetica Neue"/>
                <a:ea typeface="Hiragino Sans GB"/>
              </a:rPr>
              <a:t>英→德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792224"/>
            <a:ext cx="2212847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430"/>
                </a:solidFill>
                <a:latin typeface="Helvetica Neue"/>
                <a:ea typeface="Hiragino Sans GB"/>
              </a:rPr>
              <a:t>WMT14，450 万句对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463165"/>
            <a:ext cx="1234440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8A8F9A"/>
                </a:solidFill>
                <a:latin typeface="Helvetica Neue"/>
                <a:ea typeface="Hiragino Sans GB"/>
              </a:rPr>
              <a:t>英→法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2463165"/>
            <a:ext cx="2212847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430"/>
                </a:solidFill>
                <a:latin typeface="Helvetica Neue"/>
                <a:ea typeface="Hiragino Sans GB"/>
              </a:rPr>
              <a:t>WMT14，3600 万句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134106"/>
            <a:ext cx="1234440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8A8F9A"/>
                </a:solidFill>
                <a:latin typeface="Helvetica Neue"/>
                <a:ea typeface="Hiragino Sans GB"/>
              </a:rPr>
              <a:t>分词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3134106"/>
            <a:ext cx="2212847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430"/>
                </a:solidFill>
                <a:latin typeface="Helvetica Neue"/>
                <a:ea typeface="Hiragino Sans GB"/>
              </a:rPr>
              <a:t>BPE 共享词表 3.7 万 / word-piece 3.2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3805047"/>
            <a:ext cx="1234440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8A8F9A"/>
                </a:solidFill>
                <a:latin typeface="Helvetica Neue"/>
                <a:ea typeface="Hiragino Sans GB"/>
              </a:rPr>
              <a:t>批次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" y="3805047"/>
            <a:ext cx="2212847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430"/>
                </a:solidFill>
                <a:latin typeface="Helvetica Neue"/>
                <a:ea typeface="Hiragino Sans GB"/>
              </a:rPr>
              <a:t>每批约 2.5 万源词 + 2.5 万目标词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188720"/>
            <a:ext cx="4023359" cy="34518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1353312"/>
            <a:ext cx="3566159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2410C"/>
                </a:solidFill>
                <a:latin typeface="Helvetica Neue"/>
                <a:ea typeface="Hiragino Sans GB"/>
              </a:rPr>
              <a:t>硬件与优化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1792224"/>
            <a:ext cx="1234440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8A8F9A"/>
                </a:solidFill>
                <a:latin typeface="Helvetica Neue"/>
                <a:ea typeface="Hiragino Sans GB"/>
              </a:rPr>
              <a:t>硬件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792224"/>
            <a:ext cx="2212847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430"/>
                </a:solidFill>
                <a:latin typeface="Helvetica Neue"/>
                <a:ea typeface="Hiragino Sans GB"/>
              </a:rPr>
              <a:t>1 台机器 · 8× NVIDIA P100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2624" y="2463165"/>
            <a:ext cx="1234440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8A8F9A"/>
                </a:solidFill>
                <a:latin typeface="Helvetica Neue"/>
                <a:ea typeface="Hiragino Sans GB"/>
              </a:rPr>
              <a:t>时长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463165"/>
            <a:ext cx="2212847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430"/>
                </a:solidFill>
                <a:latin typeface="Helvetica Neue"/>
                <a:ea typeface="Hiragino Sans GB"/>
              </a:rPr>
              <a:t>base 10 万步 ≈ 12 小时 · big 30 万步 ≈ 3.5 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2624" y="3134106"/>
            <a:ext cx="1234440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8A8F9A"/>
                </a:solidFill>
                <a:latin typeface="Helvetica Neue"/>
                <a:ea typeface="Hiragino Sans GB"/>
              </a:rPr>
              <a:t>优化器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134106"/>
            <a:ext cx="2212847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430"/>
                </a:solidFill>
                <a:latin typeface="Helvetica Neue"/>
                <a:ea typeface="Hiragino Sans GB"/>
              </a:rPr>
              <a:t>Adam，学习率先热身 4000 步再按 1/√step 衰减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4" y="3805047"/>
            <a:ext cx="1234440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8A8F9A"/>
                </a:solidFill>
                <a:latin typeface="Helvetica Neue"/>
                <a:ea typeface="Hiragino Sans GB"/>
              </a:rPr>
              <a:t>正则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805047"/>
            <a:ext cx="2212847" cy="67094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F2430"/>
                </a:solidFill>
                <a:latin typeface="Helvetica Neue"/>
                <a:ea typeface="Hiragino Sans GB"/>
              </a:rPr>
              <a:t>残差 dropout 0.1 · 标签平滑 0.1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06 ·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英→德：基础版超所有前作，大杯改写纪录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188720"/>
          <a:ext cx="5215737" cy="33146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530852"/>
            <a:ext cx="5215737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8F9A"/>
                </a:solidFill>
                <a:latin typeface="Helvetica Neue"/>
                <a:ea typeface="Hiragino Sans GB"/>
              </a:rPr>
              <a:t>WMT14 英→德 测试集 BLEU（论文 Table 2）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2977" y="1371600"/>
            <a:ext cx="278526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0C"/>
                </a:solidFill>
                <a:latin typeface="Helvetica Neue"/>
                <a:ea typeface="Hiragino Sans GB"/>
              </a:rPr>
              <a:t>代价呢？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2977" y="1682496"/>
            <a:ext cx="2785262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2430"/>
                </a:solidFill>
                <a:latin typeface="Helvetica Neue"/>
                <a:ea typeface="Hiragino Sans GB"/>
              </a:rPr>
              <a:t>1/7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2977" y="2560320"/>
            <a:ext cx="2785262" cy="1828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54B58"/>
                </a:solidFill>
                <a:latin typeface="Helvetica Neue"/>
                <a:ea typeface="Hiragino Sans GB"/>
              </a:rPr>
              <a:t>base 版训练算力约为 GNMT+RL 的 1/7（3.3 对 23×10¹⁸ FLOPs），却高出 2.7 BLEU。另一方向 big 版 41.8 BLEU，成本同样只是前 SOTA 的零头。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06 ·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消融实验：多头和 dropout 最关键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3840478" cy="26883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39"/>
                <a:gridCol w="19202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2430"/>
                          </a:solidFill>
                          <a:latin typeface="Helvetica Neue"/>
                          <a:ea typeface="Hiragino Sans GB"/>
                        </a:rPr>
                        <a:t>配置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F2430"/>
                      </a:solidFill>
                    </a:lnT>
                    <a:lnB w="10160" cap="flat" cmpd="sng" algn="ctr">
                      <a:solidFill>
                        <a:srgbClr val="5A647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F2430"/>
                          </a:solidFill>
                          <a:latin typeface="Helvetica Neue"/>
                          <a:ea typeface="Hiragino Sans GB"/>
                        </a:rPr>
                        <a:t>开发集 BLEU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F2430"/>
                      </a:solidFill>
                    </a:lnT>
                    <a:lnB w="10160" cap="flat" cmpd="sng" algn="ctr">
                      <a:solidFill>
                        <a:srgbClr val="5A6472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base（8 头，dk=64）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25.8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单头注意力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24.9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32 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25.4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去掉 dropout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24.6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学习式位置编码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454B58"/>
                          </a:solidFill>
                          <a:latin typeface="Helvetica Neue"/>
                          <a:ea typeface="Hiragino Sans GB"/>
                        </a:rPr>
                        <a:t>25.7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C2410C"/>
                          </a:solidFill>
                          <a:latin typeface="Helvetica Neue"/>
                          <a:ea typeface="Hiragino Sans GB"/>
                        </a:rPr>
                        <a:t>big（更大更深）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F2430"/>
                      </a:solidFill>
                    </a:lnB>
                    <a:solidFill>
                      <a:srgbClr val="FAEC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C2410C"/>
                          </a:solidFill>
                          <a:latin typeface="Helvetica Neue"/>
                          <a:ea typeface="Hiragino Sans GB"/>
                        </a:rPr>
                        <a:t>26.4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F2430"/>
                      </a:solidFill>
                    </a:lnB>
                    <a:solidFill>
                      <a:srgbClr val="FAECE3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892040" y="1389888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93208" y="1307592"/>
            <a:ext cx="354787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430"/>
                </a:solidFill>
                <a:latin typeface="Helvetica Neue"/>
                <a:ea typeface="Hiragino Sans GB"/>
              </a:rPr>
              <a:t>头数有甜点位：</a:t>
            </a:r>
            <a:r>
              <a:rPr sz="1300" b="0" i="0">
                <a:solidFill>
                  <a:srgbClr val="454B58"/>
                </a:solidFill>
                <a:latin typeface="Helvetica Neue"/>
                <a:ea typeface="Hiragino Sans GB"/>
              </a:rPr>
              <a:t>单头比最优差 0.9 BLEU；头太多（32）反而变差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2034032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8" y="1951736"/>
            <a:ext cx="354787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430"/>
                </a:solidFill>
                <a:latin typeface="Helvetica Neue"/>
                <a:ea typeface="Hiragino Sans GB"/>
              </a:rPr>
              <a:t>dk 不能省：</a:t>
            </a:r>
            <a:r>
              <a:rPr sz="1300" b="0" i="0">
                <a:solidFill>
                  <a:srgbClr val="454B58"/>
                </a:solidFill>
                <a:latin typeface="Helvetica Neue"/>
                <a:ea typeface="Hiragino Sans GB"/>
              </a:rPr>
              <a:t>缩小键维度伤质量，相似度计算并不简单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678176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3208" y="2595880"/>
            <a:ext cx="354787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430"/>
                </a:solidFill>
                <a:latin typeface="Helvetica Neue"/>
                <a:ea typeface="Hiragino Sans GB"/>
              </a:rPr>
              <a:t>大模型 + dropout：</a:t>
            </a:r>
            <a:r>
              <a:rPr sz="1300" b="0" i="0">
                <a:solidFill>
                  <a:srgbClr val="454B58"/>
                </a:solidFill>
                <a:latin typeface="Helvetica Neue"/>
                <a:ea typeface="Hiragino Sans GB"/>
              </a:rPr>
              <a:t>模型越大越好；去掉 dropout 直接掉 1.2 BLEU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3322320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8" y="3240024"/>
            <a:ext cx="354787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430"/>
                </a:solidFill>
                <a:latin typeface="Helvetica Neue"/>
                <a:ea typeface="Hiragino Sans GB"/>
              </a:rPr>
              <a:t>位置编码随便选：</a:t>
            </a:r>
            <a:r>
              <a:rPr sz="1300" b="0" i="0">
                <a:solidFill>
                  <a:srgbClr val="454B58"/>
                </a:solidFill>
                <a:latin typeface="Helvetica Neue"/>
                <a:ea typeface="Hiragino Sans GB"/>
              </a:rPr>
              <a:t>学习式和正弦式几乎一样（25.7 vs 25.8）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06 ·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泛化到句法解析，注意力还能被看懂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8412480" cy="722376"/>
          </a:xfrm>
          <a:prstGeom prst="roundRect">
            <a:avLst>
              <a:gd name="adj" fmla="val 8000"/>
            </a:avLst>
          </a:prstGeom>
          <a:solidFill>
            <a:srgbClr val="FA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92230"/>
            <a:ext cx="64008" cy="606795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234440"/>
            <a:ext cx="8010144" cy="7223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0C"/>
                </a:solidFill>
                <a:latin typeface="Helvetica Neue"/>
                <a:ea typeface="Hiragino Sans GB"/>
              </a:rPr>
              <a:t>F1 92.7  </a:t>
            </a:r>
            <a:r>
              <a:rPr sz="1250" b="0" i="0">
                <a:solidFill>
                  <a:srgbClr val="1F2430"/>
                </a:solidFill>
                <a:latin typeface="Helvetica Neue"/>
                <a:ea typeface="Hiragino Sans GB"/>
              </a:rPr>
              <a:t>英语成分句法解析（WSJ）：仅 4 万句训练 F1 91.3，超过 BerkeleyParser；半监督 92.7，超过除 RNNG 外所有前作。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3673" y="2057400"/>
            <a:ext cx="4576652" cy="22448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ttention head linking 'making' to 'more difficult' across the phrase" title="Attention head linking 'making' to 'more difficult' across the phr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401" y="2103120"/>
            <a:ext cx="4357196" cy="21534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624286" y="2113887"/>
            <a:ext cx="217859" cy="904433"/>
          </a:xfrm>
          <a:prstGeom prst="roundRect">
            <a:avLst>
              <a:gd name="adj" fmla="val 8000"/>
            </a:avLst>
          </a:prstGeom>
          <a:noFill/>
          <a:ln w="222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47580" y="3352098"/>
            <a:ext cx="370361" cy="732160"/>
          </a:xfrm>
          <a:prstGeom prst="roundRect">
            <a:avLst>
              <a:gd name="adj" fmla="val 8000"/>
            </a:avLst>
          </a:prstGeom>
          <a:noFill/>
          <a:ln w="222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74820"/>
            <a:ext cx="768095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F9A"/>
                </a:solidFill>
                <a:latin typeface="Helvetica Neue"/>
                <a:ea typeface="Hiragino Sans GB"/>
              </a:rPr>
              <a:t>第 5 层的一个注意力头：「making」直接接上「more difficult」，远距离依赖被直接建模。论文 Figure 3 原图。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07 ·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第一个纯注意力的序列转换模型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47088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7114032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430"/>
                </a:solidFill>
                <a:latin typeface="Helvetica Neue"/>
                <a:ea typeface="Hiragino Sans GB"/>
              </a:rPr>
              <a:t>换掉循环层：</a:t>
            </a:r>
            <a:r>
              <a:rPr sz="1600" b="0" i="0">
                <a:solidFill>
                  <a:srgbClr val="454B58"/>
                </a:solidFill>
                <a:latin typeface="Helvetica Neue"/>
                <a:ea typeface="Hiragino Sans GB"/>
              </a:rPr>
              <a:t>编码器-解码器架构的循环层，全部换成多头自注意力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458720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376424"/>
            <a:ext cx="7114032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430"/>
                </a:solidFill>
                <a:latin typeface="Helvetica Neue"/>
                <a:ea typeface="Hiragino Sans GB"/>
              </a:rPr>
              <a:t>更快 + SOTA：</a:t>
            </a:r>
            <a:r>
              <a:rPr sz="1600" b="0" i="0">
                <a:solidFill>
                  <a:srgbClr val="454B58"/>
                </a:solidFill>
                <a:latin typeface="Helvetica Neue"/>
                <a:ea typeface="Hiragino Sans GB"/>
              </a:rPr>
              <a:t>训练显著快于循环/卷积架构；英→德、英→法双双刷新纪录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70351"/>
            <a:ext cx="82296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988055"/>
            <a:ext cx="7114032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430"/>
                </a:solidFill>
                <a:latin typeface="Helvetica Neue"/>
                <a:ea typeface="Hiragino Sans GB"/>
              </a:rPr>
              <a:t>下一步（论文原话）：</a:t>
            </a:r>
            <a:r>
              <a:rPr sz="1600" b="0" i="0">
                <a:solidFill>
                  <a:srgbClr val="454B58"/>
                </a:solidFill>
                <a:latin typeface="Helvetica Neue"/>
                <a:ea typeface="Hiragino Sans GB"/>
              </a:rPr>
              <a:t>扩展到图像、音频、视频等模态；研究局部受限注意力；让生成不那么串行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041648"/>
            <a:ext cx="7315200" cy="10972"/>
          </a:xfrm>
          <a:prstGeom prst="rect">
            <a:avLst/>
          </a:prstGeom>
          <a:solidFill>
            <a:srgbClr val="E3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9663"/>
            <a:ext cx="73152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8F9A"/>
                </a:solidFill>
                <a:latin typeface="Helvetica Neue"/>
                <a:ea typeface="Hiragino Sans GB"/>
              </a:rPr>
              <a:t>代码开源于 tensorflow/tensor2tensor。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Helvetica Neue"/>
                <a:ea typeface="Hiragino Sans GB"/>
              </a:rPr>
              <a:t>延伸 · 非论文内容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2430"/>
                </a:solidFill>
                <a:latin typeface="Avenir Next"/>
                <a:ea typeface="Hiragino Sans GB"/>
              </a:rPr>
              <a:t>后来，它改变了一切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A6472"/>
                </a:solidFill>
                <a:latin typeface="Helvetica Neue"/>
                <a:ea typeface="Hiragino Sans GB"/>
              </a:rPr>
              <a:t>Attention Is All You Need · NIPS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Helvetica Neue"/>
                <a:ea typeface="Hiragino Sans GB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000707"/>
            <a:ext cx="7223759" cy="21945"/>
          </a:xfrm>
          <a:prstGeom prst="rect">
            <a:avLst/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19293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" y="2176272"/>
            <a:ext cx="1828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2410C"/>
                </a:solidFill>
                <a:latin typeface="Helvetica Neue"/>
                <a:ea typeface="Hiragino Sans GB"/>
              </a:rPr>
              <a:t>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" y="2468880"/>
            <a:ext cx="1828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0"/>
                </a:solidFill>
                <a:latin typeface="Helvetica Neue"/>
                <a:ea typeface="Hiragino Sans GB"/>
              </a:rPr>
              <a:t>Transformer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" y="2724912"/>
            <a:ext cx="201168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本论文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3764" y="19293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51660" y="2176272"/>
            <a:ext cx="1828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AA0AE"/>
                </a:solidFill>
                <a:latin typeface="Helvetica Neue"/>
                <a:ea typeface="Hiragino Sans GB"/>
              </a:rPr>
              <a:t>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1660" y="2468880"/>
            <a:ext cx="1828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0"/>
                </a:solidFill>
                <a:latin typeface="Helvetica Neue"/>
                <a:ea typeface="Hiragino Sans GB"/>
              </a:rPr>
              <a:t>BERT / 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0220" y="2724912"/>
            <a:ext cx="201168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编码器与解码器各自成家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9704" y="19293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176272"/>
            <a:ext cx="1828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AA0AE"/>
                </a:solidFill>
                <a:latin typeface="Helvetica Neue"/>
                <a:ea typeface="Hiragino Sans GB"/>
              </a:rPr>
              <a:t>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468880"/>
            <a:ext cx="1828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0"/>
                </a:solidFill>
                <a:latin typeface="Helvetica Neue"/>
                <a:ea typeface="Hiragino Sans GB"/>
              </a:rPr>
              <a:t>GPT-3 / ViT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24912"/>
            <a:ext cx="201168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规模化 + 进军视觉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5643" y="19293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63539" y="2176272"/>
            <a:ext cx="1828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AA0AE"/>
                </a:solidFill>
                <a:latin typeface="Helvetica Neue"/>
                <a:ea typeface="Hiragino Sans GB"/>
              </a:rPr>
              <a:t>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3539" y="2468880"/>
            <a:ext cx="1828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0"/>
                </a:solidFill>
                <a:latin typeface="Helvetica Neue"/>
                <a:ea typeface="Hiragino Sans GB"/>
              </a:rPr>
              <a:t>ChatGPT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2099" y="2724912"/>
            <a:ext cx="201168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注意力走进每个人的对话框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19293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79" y="2176272"/>
            <a:ext cx="1828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AA0AE"/>
                </a:solidFill>
                <a:latin typeface="Helvetica Neue"/>
                <a:ea typeface="Hiragino Sans GB"/>
              </a:rPr>
              <a:t>今天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79" y="2468880"/>
            <a:ext cx="1828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0"/>
                </a:solidFill>
                <a:latin typeface="Helvetica Neue"/>
                <a:ea typeface="Hiragino Sans GB"/>
              </a:rPr>
              <a:t>几乎所有前沿模型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724912"/>
            <a:ext cx="201168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Helvetica Neue"/>
                <a:ea typeface="Hiragino Sans GB"/>
              </a:rPr>
              <a:t>LLM 的默认骨架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49039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A8F9A"/>
                </a:solidFill>
                <a:latin typeface="Helvetica Neue"/>
                <a:ea typeface="Hiragino Sans GB"/>
              </a:rPr>
              <a:t>本页为讲者延伸，不属于论文内容。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2410C"/>
                </a:solidFill>
                <a:latin typeface="Helvetica Neue"/>
                <a:ea typeface="Hiragino Sans GB"/>
              </a:rPr>
              <a:t>谢谢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