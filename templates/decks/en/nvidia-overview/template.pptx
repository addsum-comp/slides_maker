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5143500"/>
          </a:xfrm>
          <a:prstGeom prst="rect">
            <a:avLst/>
          </a:prstGeom>
          <a:gradFill>
            <a:gsLst>
              <a:gs pos="0">
                <a:srgbClr val="0A0B0D">
                  <a:alpha val="78000"/>
                </a:srgbClr>
              </a:gs>
              <a:gs pos="100000">
                <a:srgbClr val="0A0B0D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9844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COMPANY  OVERVIEW      2026</a:t>
            </a:r>
          </a:p>
        </p:txBody>
      </p:sp>
      <p:pic>
        <p:nvPicPr>
          <p:cNvPr id="5" name="Picture 4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56016"/>
            <a:ext cx="2697480" cy="493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2542032"/>
            <a:ext cx="777240" cy="2560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724912"/>
            <a:ext cx="4114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C8CDD4"/>
                </a:solidFill>
                <a:latin typeface="Helvetica Neue"/>
              </a:rPr>
              <a:t>The accelerated-computing platform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C8CDD4"/>
                </a:solidFill>
                <a:latin typeface="Helvetica Neue"/>
              </a:rPr>
              <a:t>powering AI, graphics, and 3D.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rgbClr val="0A0B0D">
                  <a:alpha val="82000"/>
                </a:srgbClr>
              </a:gs>
              <a:gs pos="100000">
                <a:srgbClr val="0A0B0D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WHO  WE 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17320"/>
            <a:ext cx="47548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</a:rPr>
              <a:t>NVIDIA builds the chips,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</a:rPr>
              <a:t>systems, networking, 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</a:rPr>
              <a:t>software the world runs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</a:rPr>
              <a:t>its </a:t>
            </a:r>
            <a:r>
              <a:rPr sz="2600" b="1" i="0">
                <a:solidFill>
                  <a:srgbClr val="76B900"/>
                </a:solidFill>
                <a:latin typeface="Helvetica Neue"/>
              </a:rPr>
              <a:t>AI</a:t>
            </a:r>
            <a:r>
              <a:rPr sz="2600" b="1" i="0">
                <a:solidFill>
                  <a:srgbClr val="FFFFFF"/>
                </a:solidFill>
                <a:latin typeface="Helvetica Neue"/>
              </a:rPr>
              <a:t>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3611880"/>
            <a:ext cx="777240" cy="2560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79476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Founded 1993 · led by Jensen Huang · the full-stack platform of the AI 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From a graphics chip to the engine of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23667"/>
            <a:ext cx="7498079" cy="21945"/>
          </a:xfrm>
          <a:prstGeom prst="rect">
            <a:avLst/>
          </a:prstGeom>
          <a:solidFill>
            <a:srgbClr val="32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523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2121408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1993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3035808"/>
            <a:ext cx="1554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Founded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975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121408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1999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35808"/>
            <a:ext cx="1554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Invented the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427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121408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035808"/>
            <a:ext cx="1554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CUDA software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879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2012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035808"/>
            <a:ext cx="1554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Deep-learning 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3315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 w="1778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121408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B900"/>
                </a:solidFill>
                <a:latin typeface="Helvetica Neue"/>
              </a:rPr>
              <a:t>2024–26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035808"/>
            <a:ext cx="1554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AI factories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AE"/>
                </a:solidFill>
                <a:latin typeface="Helvetica Neue"/>
              </a:rPr>
              <a:t>Three inventions — the GPU, CUDA, and rack-scale AI systems — turned PC graphics into the engine of modern AI.</a:t>
            </a:r>
          </a:p>
        </p:txBody>
      </p:sp>
      <p:pic>
        <p:nvPicPr>
          <p:cNvPr id="24" name="Picture 23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WHAT  WE 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One platform, many engines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84248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" y="2587752"/>
            <a:ext cx="1389887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AI &amp; Data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1389887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</a:rPr>
              <a:t>Full-stack GPUs and systems that run the world's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56032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1984248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9776" y="2587752"/>
            <a:ext cx="1389887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GeForce RTX Gaming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3209544"/>
            <a:ext cx="1389887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</a:rPr>
              <a:t>Real-time ray tracing and AI rendering for games.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75488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_om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1984248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74336" y="2587752"/>
            <a:ext cx="1389887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Omniverse &amp; Pro Viz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3209544"/>
            <a:ext cx="1389887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</a:rPr>
              <a:t>Physically-accurate 3D simulation and digital twins.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694944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1984248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68896" y="2587752"/>
            <a:ext cx="1389887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Robotics &amp; Automotive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209544"/>
            <a:ext cx="1389887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</a:rPr>
              <a:t>On-board AI for vehicles, robots and edge devices.</a:t>
            </a:r>
          </a:p>
        </p:txBody>
      </p:sp>
      <p:pic>
        <p:nvPicPr>
          <p:cNvPr id="27" name="Picture 26" descr="nvidia_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BY  THE 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Scale &amp; 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112264"/>
            <a:ext cx="144475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</a:rPr>
              <a:t>$215.9B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52344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FY2026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08960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+65%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3" y="2112264"/>
            <a:ext cx="144475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</a:rPr>
              <a:t>~$4.7T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752344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market 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108960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#1 in the world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2112264"/>
            <a:ext cx="144475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</a:rPr>
              <a:t>74.9%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752344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3108960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Q1 FY2027, GAAP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3" y="2112264"/>
            <a:ext cx="144475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</a:rPr>
              <a:t>~6M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7" y="2752344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CUDA developers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3108960"/>
            <a:ext cx="1417319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200+ countries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08576"/>
            <a:ext cx="822960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AA3AE"/>
                </a:solidFill>
                <a:latin typeface="Helvetica Neue"/>
              </a:rPr>
              <a:t>Revenue FY2026 (ended Jan 25, 2026); margin Q1 FY2027 (Apr 26, 2026); developers as of GTC 2025; market cap ≈ Jun 2026 (approx., moves intraday).</a:t>
            </a:r>
          </a:p>
        </p:txBody>
      </p:sp>
      <p:pic>
        <p:nvPicPr>
          <p:cNvPr id="28" name="Picture 27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DATA  CENTER · THE 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NVIDIA builds AI factories, not just chips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108960" cy="4023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Blackwell GPUs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58568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58568"/>
            <a:ext cx="3108960" cy="4023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Grace / Vera CPUs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734056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34056"/>
            <a:ext cx="3108960" cy="4023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NVLink &amp; NVSwitch fabric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954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9544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09544"/>
            <a:ext cx="3108960" cy="4023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InfiniBand / Spectrum-X networking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8503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85032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85032"/>
            <a:ext cx="3108960" cy="40233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CUDA &amp; AI software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2697480"/>
            <a:ext cx="685800" cy="0"/>
          </a:xfrm>
          <a:prstGeom prst="line">
            <a:avLst/>
          </a:prstGeom>
          <a:ln w="2286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18288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4937760" y="1828800"/>
            <a:ext cx="3657600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_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02996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38928" y="2542032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A rack-scale AI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2907792"/>
            <a:ext cx="32461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GB300 NVL72 fuses 72 GPUs into one giant accelerator — sold as a complete, ready-to-run system.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7955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</a:rPr>
              <a:t>Data Center is the engine: $75.2B last quarter — about 92% of revenue (Q1 FY2027, ended Apr 26, 2026).</a:t>
            </a:r>
          </a:p>
        </p:txBody>
      </p:sp>
      <p:pic>
        <p:nvPicPr>
          <p:cNvPr id="29" name="Picture 28" descr="nvidia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ANNUAL 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Blackwell Ultra today, Vera Rubin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822960" y="1828800"/>
            <a:ext cx="3657600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2416" y="2066543"/>
            <a:ext cx="640080" cy="27432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8026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0B0D"/>
                </a:solidFill>
                <a:latin typeface="Helvetica Neue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8716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</a:rPr>
              <a:t>Blackwell Ultra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90779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GB300 / GB300 NVL72 — shipping at scale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8288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709160" y="1828800"/>
            <a:ext cx="3657600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8E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28616" y="2066543"/>
            <a:ext cx="640080" cy="274320"/>
          </a:xfrm>
          <a:prstGeom prst="roundRect">
            <a:avLst>
              <a:gd name="adj" fmla="val 8000"/>
            </a:avLst>
          </a:prstGeom>
          <a:solidFill>
            <a:srgbClr val="38E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2080260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0B0D"/>
                </a:solidFill>
                <a:latin typeface="Helvetica Neue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487168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</a:rPr>
              <a:t>Vera Rubin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290779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Next-gen platform — full production from fall 2026.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6280" y="2715768"/>
            <a:ext cx="137160" cy="0"/>
          </a:xfrm>
          <a:prstGeom prst="line">
            <a:avLst/>
          </a:prstGeom>
          <a:ln w="2286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069080"/>
            <a:ext cx="795527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AE"/>
                </a:solidFill>
                <a:latin typeface="Helvetica Neue"/>
              </a:rPr>
              <a:t>More than $500B in cumulative Blackwell + Rubin orders were booked through 2026 (as disclosed Oct 29, 2025).</a:t>
            </a:r>
          </a:p>
        </p:txBody>
      </p:sp>
      <p:pic>
        <p:nvPicPr>
          <p:cNvPr id="21" name="Picture 20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Who runs on NVIDIA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560319" cy="24688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737360"/>
            <a:ext cx="256031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11679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2029967"/>
            <a:ext cx="1645919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Clouds &amp; AI providers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697480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697480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CoreWeave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81528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081528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Oracle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465576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465576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Microsoft Azure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3849624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849624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Lambda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1737360"/>
            <a:ext cx="2560319" cy="24688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3291839" y="1737360"/>
            <a:ext cx="256031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3" y="2011679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69079" y="2029967"/>
            <a:ext cx="1645919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System makers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9583" y="2697480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3" y="2697480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Dell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9583" y="3081528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3" y="3081528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HPE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3" y="3465576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3" y="3465576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Lenovo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3" y="3849624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3" y="3849624"/>
            <a:ext cx="2084831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Supermicro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19" y="1737360"/>
            <a:ext cx="2560319" cy="24688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6217919" y="1737360"/>
            <a:ext cx="256031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3" y="2011679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95159" y="2029967"/>
            <a:ext cx="1645919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Sovereign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3" y="2651760"/>
            <a:ext cx="210311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76B900"/>
                </a:solidFill>
                <a:latin typeface="Helvetica Neue"/>
              </a:rPr>
              <a:t>~40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3" y="3520439"/>
            <a:ext cx="2103119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countries building their own national AI infrastructure on NVIDIA.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08576"/>
            <a:ext cx="822960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AA3AE"/>
                </a:solidFill>
                <a:latin typeface="Helvetica Neue"/>
              </a:rPr>
              <a:t>Cloud / OEM partners and the ~40-country sovereign-AI count as of 2025–26.</a:t>
            </a:r>
          </a:p>
        </p:txBody>
      </p:sp>
      <p:pic>
        <p:nvPicPr>
          <p:cNvPr id="38" name="Picture 37" descr="nvidia_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THE 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Software is the durable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783080"/>
            <a:ext cx="32918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76B900"/>
                </a:solidFill>
                <a:latin typeface="Helvetica Neue"/>
              </a:rPr>
              <a:t>~6M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200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developers worldwide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</a:rPr>
              <a:t>200+ countries · 900+ CUDA-X libraries (as of GTC 2025).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9384"/>
            <a:ext cx="82296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4023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8CDD4"/>
                </a:solidFill>
                <a:latin typeface="Helvetica Neue"/>
              </a:rPr>
              <a:t>CUDA (since 2006) makes every NVIDIA GPU instantly programmable.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79191"/>
            <a:ext cx="82296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24327"/>
            <a:ext cx="4023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8CDD4"/>
                </a:solidFill>
                <a:latin typeface="Helvetica Neue"/>
              </a:rPr>
              <a:t>AI Enterprise, NIM microservices and open Nemotron models put it into production.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428999"/>
            <a:ext cx="82296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374135"/>
            <a:ext cx="4023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8CDD4"/>
                </a:solidFill>
                <a:latin typeface="Helvetica Neue"/>
              </a:rPr>
              <a:t>The bigger the ecosystem grows, the harder the platform is to leave.</a:t>
            </a:r>
          </a:p>
        </p:txBody>
      </p:sp>
      <p:pic>
        <p:nvPicPr>
          <p:cNvPr id="16" name="Picture 15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Connecting thousands of GPUs into one computer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166360" cy="1874519"/>
          </a:xfrm>
          <a:prstGeom prst="roundRect">
            <a:avLst>
              <a:gd name="adj" fmla="val 8000"/>
            </a:avLst>
          </a:prstGeom>
          <a:solidFill>
            <a:srgbClr val="0E1216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417319" y="2313432"/>
            <a:ext cx="899161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73680" y="231343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30040" y="231343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7319" y="2862072"/>
            <a:ext cx="899161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73680" y="286207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30040" y="286207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19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45080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01440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57800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19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1" y="2203703"/>
            <a:ext cx="219456" cy="21945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316480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352" y="2203703"/>
            <a:ext cx="219456" cy="21945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672840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12" y="2203703"/>
            <a:ext cx="219456" cy="2194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029200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203703"/>
            <a:ext cx="219456" cy="2194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60119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1" y="2752344"/>
            <a:ext cx="219456" cy="2194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316480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352" y="2752344"/>
            <a:ext cx="219456" cy="21945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72840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12" y="2752344"/>
            <a:ext cx="219456" cy="21945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029200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752344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" y="3346704"/>
            <a:ext cx="51663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one NVLink + InfiniBand / Spectrum-X fabric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182880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1828800"/>
            <a:ext cx="54864" cy="1874519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084831"/>
            <a:ext cx="2286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</a:rPr>
              <a:t>$14.8B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670048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networking, last quarter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017520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+199% YoY; Spectrum-X past a $10B run rate.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7955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</a:rPr>
              <a:t>The 2020 Mellanox acquisition made NVIDIA a full-stack networking company.</a:t>
            </a:r>
          </a:p>
        </p:txBody>
      </p:sp>
      <p:pic>
        <p:nvPicPr>
          <p:cNvPr id="41" name="Picture 40" descr="nvidia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GAMING · WHERE  IT  BEGAN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GeForce RTX — real-time, AI-accelerated graphics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5740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624328"/>
            <a:ext cx="1426463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Ray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81528"/>
            <a:ext cx="1426463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Cinematic, physically-accurate lighting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56032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05740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61488" y="2624328"/>
            <a:ext cx="1426463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DLSS AI rendering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081528"/>
            <a:ext cx="1426463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Neural rendering multiplies frame rates.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75488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05740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56048" y="2624328"/>
            <a:ext cx="1426463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One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081528"/>
            <a:ext cx="1426463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The same Blackwell stack as the data center.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694944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7" y="20574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50607" y="2624328"/>
            <a:ext cx="1426463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GeForce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7" y="3081528"/>
            <a:ext cx="1426463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Streams the rig from the cloud to any device.</a:t>
            </a:r>
          </a:p>
        </p:txBody>
      </p:sp>
      <p:pic>
        <p:nvPicPr>
          <p:cNvPr id="27" name="Picture 26" descr="nvidia_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SIMULATION · DIGITAL  TWINS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Omniverse — an operating system for physical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7955279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DD4"/>
                </a:solidFill>
                <a:latin typeface="Helvetica Neue"/>
              </a:rPr>
              <a:t>Build physically-accurate 3D digital twins on OpenUSD — and test the real world in simulation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4023359" cy="1371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057400"/>
            <a:ext cx="54864" cy="13716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258568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B900"/>
                </a:solidFill>
                <a:latin typeface="Helvetica Neue"/>
              </a:rPr>
              <a:t>~30%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862072"/>
            <a:ext cx="3566159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CDD4"/>
                </a:solidFill>
                <a:latin typeface="Helvetica Neue"/>
              </a:rPr>
              <a:t>lower factory-planning cost — BMW validated a full plant virtually.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57400"/>
            <a:ext cx="4023359" cy="1371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2057400"/>
            <a:ext cx="54864" cy="13716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2258568"/>
            <a:ext cx="1828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B900"/>
                </a:solidFill>
                <a:latin typeface="Helvetica Neue"/>
              </a:rPr>
              <a:t>~1,000×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862072"/>
            <a:ext cx="3566159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CDD4"/>
                </a:solidFill>
                <a:latin typeface="Helvetica Neue"/>
              </a:rPr>
              <a:t>faster forecasts with Earth-2 — and ~3,000× more energy-efficient.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46304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BMW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1136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3977639"/>
            <a:ext cx="146304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Mercedes-Benz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2191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3977639"/>
            <a:ext cx="146304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Siemens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3248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3977639"/>
            <a:ext cx="146304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Ansys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04304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3977639"/>
            <a:ext cx="1463040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</a:rPr>
              <a:t>Foxconn</a:t>
            </a:r>
          </a:p>
        </p:txBody>
      </p:sp>
      <p:pic>
        <p:nvPicPr>
          <p:cNvPr id="26" name="Picture 25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PHYSICAL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From cars to robots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4023359" cy="2514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737360"/>
            <a:ext cx="402335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_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8255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2103120"/>
            <a:ext cx="2926079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Autonomous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474719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DRIVE AGX Thor + Hyperion power BYD, Mercedes-Benz, Lucid and JLR — plus a global robotaxi push with Uber.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30752"/>
            <a:ext cx="365760" cy="2011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347471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BYD  ·  Mercedes-Benz  ·  Lucid  ·  Uber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37360"/>
            <a:ext cx="4023359" cy="2514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754880" y="1737360"/>
            <a:ext cx="402335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48255"/>
            <a:ext cx="420624" cy="4206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2103120"/>
            <a:ext cx="2926079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Robotics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88920"/>
            <a:ext cx="3474719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</a:rPr>
              <a:t>Jetson Thor + Isaac + open GR00T humanoid models drive Boston Dynamics, Figure and factory robots.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730752"/>
            <a:ext cx="365760" cy="2011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858768"/>
            <a:ext cx="347471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Boston Dynamics  ·  Figure  ·  ABB  ·  FANUC</a:t>
            </a:r>
          </a:p>
        </p:txBody>
      </p:sp>
      <p:pic>
        <p:nvPicPr>
          <p:cNvPr id="21" name="Picture 20" descr="nvidia_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THE 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Why customers choose NVIDIA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11095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1328" y="1737360"/>
            <a:ext cx="246888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One full-stack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37360"/>
            <a:ext cx="457200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Chips, systems, networking and software — proven to work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487168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60903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81328" y="2487168"/>
            <a:ext cx="246888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Scales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87168"/>
            <a:ext cx="457200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From a gaming laptop to a rack-scale AI factory.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36975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36975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10711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81328" y="3236975"/>
            <a:ext cx="246888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The biggest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36975"/>
            <a:ext cx="457200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~6M developers and the industry's deepest software stack.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3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986783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60520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81328" y="3986783"/>
            <a:ext cx="246888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Proven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986783"/>
            <a:ext cx="4572000" cy="67665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</a:rPr>
              <a:t>The platform the world's leading AI is already built on.</a:t>
            </a:r>
          </a:p>
        </p:txBody>
      </p:sp>
      <p:pic>
        <p:nvPicPr>
          <p:cNvPr id="27" name="Picture 26" descr="nvidia_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Growth on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8046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</a:rPr>
              <a:t>Revenue by fiscal year (ending late January) — and ≥ $500B in Blackwell + Rubin orders already booked through 2026.</a:t>
            </a:r>
          </a:p>
        </p:txBody>
      </p:sp>
      <p:sp>
        <p:nvSpPr>
          <p:cNvPr id="8" name="Round Same Side Corner Rectangle 7"/>
          <p:cNvSpPr/>
          <p:nvPr/>
        </p:nvSpPr>
        <p:spPr>
          <a:xfrm>
            <a:off x="1828800" y="3657557"/>
            <a:ext cx="1280160" cy="502962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46661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$60.9B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3367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</a:rPr>
              <a:t>FY2024</a:t>
            </a:r>
          </a:p>
        </p:txBody>
      </p:sp>
      <p:sp>
        <p:nvSpPr>
          <p:cNvPr id="11" name="Round Same Side Corner Rectangle 10"/>
          <p:cNvSpPr/>
          <p:nvPr/>
        </p:nvSpPr>
        <p:spPr>
          <a:xfrm>
            <a:off x="3931920" y="3082743"/>
            <a:ext cx="1280160" cy="107777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23840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771847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$130.5B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3367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</a:rPr>
              <a:t>FY2025</a:t>
            </a:r>
          </a:p>
        </p:txBody>
      </p:sp>
      <p:sp>
        <p:nvSpPr>
          <p:cNvPr id="14" name="Round Same Side Corner Rectangle 13"/>
          <p:cNvSpPr/>
          <p:nvPr/>
        </p:nvSpPr>
        <p:spPr>
          <a:xfrm>
            <a:off x="6035040" y="2377440"/>
            <a:ext cx="1280160" cy="1783079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B900"/>
                </a:solidFill>
                <a:latin typeface="Helvetica Neue"/>
              </a:rPr>
              <a:t>$215.9B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3367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</a:rPr>
              <a:t>FY2026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160520"/>
            <a:ext cx="6035040" cy="12801"/>
          </a:xfrm>
          <a:prstGeom prst="rect">
            <a:avLst/>
          </a:prstGeom>
          <a:solidFill>
            <a:srgbClr val="32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577840" cy="5143500"/>
          </a:xfrm>
          <a:prstGeom prst="rect">
            <a:avLst/>
          </a:prstGeom>
          <a:gradFill>
            <a:gsLst>
              <a:gs pos="0">
                <a:srgbClr val="0A0B0D">
                  <a:alpha val="88000"/>
                </a:srgbClr>
              </a:gs>
              <a:gs pos="100000">
                <a:srgbClr val="0A0B0D">
                  <a:alpha val="1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9728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</a:rPr>
              <a:t>GET 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17320"/>
            <a:ext cx="4754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Explore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121408"/>
            <a:ext cx="777240" cy="2560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350008"/>
            <a:ext cx="182880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7552" y="2304288"/>
            <a:ext cx="36576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developer.nvidia.com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51176"/>
            <a:ext cx="36576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CUDA, SDKs &amp; the developer ecosystem</a:t>
            </a:r>
          </a:p>
        </p:txBody>
      </p:sp>
      <p:pic>
        <p:nvPicPr>
          <p:cNvPr id="10" name="Picture 9" descr="i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916936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871216"/>
            <a:ext cx="36576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NVIDIA AI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18104"/>
            <a:ext cx="36576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production-ready AI for any business</a:t>
            </a:r>
          </a:p>
        </p:txBody>
      </p:sp>
      <p:pic>
        <p:nvPicPr>
          <p:cNvPr id="13" name="Picture 12" descr="i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83864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8144"/>
            <a:ext cx="36576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Omniverse · GeForce ·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85032"/>
            <a:ext cx="36576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</a:rPr>
              <a:t>simulation, gaming and autonomy</a:t>
            </a:r>
          </a:p>
        </p:txBody>
      </p:sp>
      <p:pic>
        <p:nvPicPr>
          <p:cNvPr id="16" name="Picture 15" descr="nvidia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24" y="4114800"/>
            <a:ext cx="2001118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" y="4572000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6B900"/>
                </a:solidFill>
                <a:latin typeface="Helvetica Neue"/>
              </a:rPr>
              <a:t>The engine of the AI 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